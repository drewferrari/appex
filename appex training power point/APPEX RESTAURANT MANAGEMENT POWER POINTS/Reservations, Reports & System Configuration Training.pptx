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12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333566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33356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ADVANCED OPERATIONS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Reservations, Reports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System Configuration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Configuration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3166"/>
            <a:ext cx="228594" cy="1971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Booking &amp; Seating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80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Analytics &amp;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System Setup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977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Help &amp; Reference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01984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Reservation Management Access &amp; Adding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7198" y="247649"/>
            <a:ext cx="1447763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7198" y="247649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10.1 - 10.2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38530"/>
            <a:ext cx="190495" cy="17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Manual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Reservation"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4914777" cy="9905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433048" y="2395853"/>
            <a:ext cx="9905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74" y="2047874"/>
            <a:ext cx="46671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674" y="22764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Customer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1290" y="22764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Phone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674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Number of guests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290" y="24669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Date and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674" y="26574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Special occasion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1290" y="26574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Special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019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3019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3019424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table (optional)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343275"/>
            <a:ext cx="4914777" cy="390525"/>
          </a:xfrm>
          <a:prstGeom prst="roundRect">
            <a:avLst>
              <a:gd name="adj" fmla="val 3902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33085" y="3505517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624" y="3438525"/>
            <a:ext cx="470523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484625"/>
            <a:ext cx="133346" cy="1173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86382" y="1190625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Online Reservations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689" y="1609724"/>
            <a:ext cx="4914777" cy="3333749"/>
          </a:xfrm>
          <a:prstGeom prst="roundRect">
            <a:avLst>
              <a:gd name="adj" fmla="val 6857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96087" y="2047874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05632" y="2307677"/>
            <a:ext cx="342891" cy="24239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48283" y="2962274"/>
            <a:ext cx="44575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Customers book via website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48283" y="3533774"/>
            <a:ext cx="4457588" cy="428625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2580" y="3648074"/>
            <a:ext cx="422899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Auto-import to system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62580" y="3688841"/>
            <a:ext cx="133346" cy="12801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48283" y="4076699"/>
            <a:ext cx="4457588" cy="428625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2580" y="4190999"/>
            <a:ext cx="422899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Confirmation email sent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62580" y="4245102"/>
            <a:ext cx="133346" cy="10134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3909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Managing Reservations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4036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Today's reservations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646301"/>
            <a:ext cx="133346" cy="1173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57228" y="19621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14036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228" y="19621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Waiting list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2074926"/>
            <a:ext cx="133346" cy="11734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57228" y="239077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14036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390774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No-shows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2503550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57228" y="281939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14036" y="296259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281939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Cancellations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2476" y="2932175"/>
            <a:ext cx="133346" cy="1173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71905" y="117157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Seating Arrival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4261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4261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0955" y="153352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Find reservation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4261" y="18192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4261" y="18192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0955" y="181927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"Arrived"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4261" y="21050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4261" y="21050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0955" y="2105024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table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4261" y="239077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4261" y="23907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0955" y="239077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48463" y="1171575"/>
            <a:ext cx="5619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Waitlist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00819" y="1533525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7890939" y="1843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34166" y="1696810"/>
            <a:ext cx="152396" cy="1306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34166" y="19145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walk-ins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0819" y="2333624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890939" y="26435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34166" y="2492828"/>
            <a:ext cx="152396" cy="1387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334166" y="27146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Estimated wait 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00819" y="3133724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7890939" y="34436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34166" y="329701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334166" y="35147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Notify when ready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800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Table Turnover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10858228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5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1247775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Predicting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26" y="1724024"/>
            <a:ext cx="3324141" cy="3333749"/>
          </a:xfrm>
          <a:prstGeom prst="roundRect">
            <a:avLst>
              <a:gd name="adj" fmla="val 6876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3921" y="28956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85842" y="3077935"/>
            <a:ext cx="285742" cy="244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3657600"/>
            <a:ext cx="29431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estimates when tables 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8063" y="1724024"/>
            <a:ext cx="3324141" cy="3333749"/>
          </a:xfrm>
          <a:prstGeom prst="roundRect">
            <a:avLst>
              <a:gd name="adj" fmla="val 6876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38559" y="28956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00479" y="3077935"/>
            <a:ext cx="285742" cy="244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8559" y="3657600"/>
            <a:ext cx="29431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Based on average dining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2225" y="1724024"/>
            <a:ext cx="3324141" cy="3333749"/>
          </a:xfrm>
          <a:prstGeom prst="roundRect">
            <a:avLst>
              <a:gd name="adj" fmla="val 6876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62720" y="28956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24641" y="3121672"/>
            <a:ext cx="285742" cy="1574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62720" y="3657600"/>
            <a:ext cx="29431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Helps manage waitlist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92440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Reports Access &amp; Sales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34346" y="247649"/>
            <a:ext cx="139061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34346" y="247649"/>
            <a:ext cx="139061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11.1 - 11.2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941"/>
            <a:ext cx="171445" cy="138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7268" y="1257300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9544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69544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20" y="1695449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"Reports"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01888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00150"/>
            <a:ext cx="152396" cy="1333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72085" y="1171575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Sales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1590" y="14573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590" y="14573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6127" y="14573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6127" y="14573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By payment method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1590" y="17621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1590" y="17621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By hour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6127" y="17621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6127" y="17621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Average ticket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2066924"/>
            <a:ext cx="4990975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2066924"/>
            <a:ext cx="49909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Tables turned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36290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-481664" y="47774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3833132"/>
            <a:ext cx="152396" cy="1251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7723" y="380047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Menu Performance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28" y="40862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228" y="40862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Best-selling items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71765" y="40862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1765" y="40862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Slow-moving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228" y="43910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228" y="43910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Profit margin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71765" y="439102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71765" y="439102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Waste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1095" y="36290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042698" y="47774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3846739"/>
            <a:ext cx="152396" cy="9797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72085" y="3800475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Server Performance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4086225"/>
            <a:ext cx="1638259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1590" y="4086225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by server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57948" y="4086225"/>
            <a:ext cx="1638259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7948" y="4086225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Tables served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4306" y="4086225"/>
            <a:ext cx="1638259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4306" y="4086225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Average tip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193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Financial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8188" y="247649"/>
            <a:ext cx="1066773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8188" y="247649"/>
            <a:ext cx="10667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38530"/>
            <a:ext cx="190495" cy="17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Profit &amp;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37848" y="1767203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24" y="1704975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Revenue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81510" y="1760220"/>
            <a:ext cx="133346" cy="8001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95327" y="2066924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37848" y="2224403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624" y="2162174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COGS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81510" y="2198750"/>
            <a:ext cx="133346" cy="11734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95327" y="252412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7848" y="26816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624" y="2619374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Food cost %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81510" y="2655950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95327" y="298132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37848" y="31388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624" y="3076574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Labor cost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81510" y="3126486"/>
            <a:ext cx="133346" cy="9067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5327" y="343852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37848" y="35960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624" y="3533774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Gross profit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81510" y="3575685"/>
            <a:ext cx="133346" cy="1066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5327" y="3895724"/>
            <a:ext cx="4914777" cy="495299"/>
          </a:xfrm>
          <a:prstGeom prst="roundRect">
            <a:avLst>
              <a:gd name="adj" fmla="val 3076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80698" y="41103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674" y="4029075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Net profit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524361" y="4074241"/>
            <a:ext cx="171445" cy="13826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86382" y="1190625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689" y="1609724"/>
            <a:ext cx="4914777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109809" y="19196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53036" y="1794782"/>
            <a:ext cx="152396" cy="870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53036" y="1990724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Usage by ingredient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409825"/>
            <a:ext cx="4914777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109809" y="27197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53036" y="2589439"/>
            <a:ext cx="152396" cy="97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53036" y="2790824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Theoretical vs actual usage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689" y="3209925"/>
            <a:ext cx="4914777" cy="6858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6109809" y="35198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53036" y="3375932"/>
            <a:ext cx="152396" cy="1251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553036" y="3590924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Variance analysis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9689" y="4010024"/>
            <a:ext cx="4914777" cy="6858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6109809" y="43199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53036" y="4178753"/>
            <a:ext cx="152396" cy="11974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53036" y="4391025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report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78133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Reservation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8188" y="247649"/>
            <a:ext cx="1066773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8188" y="247649"/>
            <a:ext cx="10667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10858228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5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1247775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Reservation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26" y="1724024"/>
            <a:ext cx="2447863" cy="3333749"/>
          </a:xfrm>
          <a:prstGeom prst="roundRect">
            <a:avLst>
              <a:gd name="adj" fmla="val 9338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3921" y="2984143"/>
            <a:ext cx="285742" cy="2420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390899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No-show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695699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 missed reservations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71785" y="1724024"/>
            <a:ext cx="2447863" cy="3333749"/>
          </a:xfrm>
          <a:prstGeom prst="roundRect">
            <a:avLst>
              <a:gd name="adj" fmla="val 9338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62280" y="3026422"/>
            <a:ext cx="285742" cy="1574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62280" y="3390899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Average Party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2280" y="3695699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Guest count trends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4" y="1724024"/>
            <a:ext cx="2447863" cy="3333749"/>
          </a:xfrm>
          <a:prstGeom prst="roundRect">
            <a:avLst>
              <a:gd name="adj" fmla="val 9338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2982685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639" y="3390899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Peak 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639" y="3695699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Busy periods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8503" y="1724024"/>
            <a:ext cx="2447863" cy="3333749"/>
          </a:xfrm>
          <a:prstGeom prst="roundRect">
            <a:avLst>
              <a:gd name="adj" fmla="val 9338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38999" y="3003096"/>
            <a:ext cx="285742" cy="2041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38999" y="3390899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Reservation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8999" y="3695699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Where bookings come from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7911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Settings Access &amp; Restaurant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7198" y="247649"/>
            <a:ext cx="1447763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7198" y="247649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12.1 - 12.2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profile icon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(top 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162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162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162174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"Settings"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53938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86382" y="1190625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Restaurant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689" y="1609724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6257447" y="17719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689" y="1609724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Business information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1746885"/>
            <a:ext cx="133346" cy="1066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15177" y="1609724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8752935" y="17719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177" y="1609724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details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29474" y="1746885"/>
            <a:ext cx="133346" cy="1066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419689" y="2076449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257447" y="2238691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689" y="2076449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Logo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33986" y="2213610"/>
            <a:ext cx="133346" cy="1066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915177" y="2076449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752935" y="2238691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177" y="2076449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Business hours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29474" y="2208276"/>
            <a:ext cx="133346" cy="11734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147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Floor Plan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39139" y="247649"/>
            <a:ext cx="108582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139" y="24764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Floor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"Add Table"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Drag to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600325"/>
            <a:ext cx="4914777" cy="9524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52098" y="3043554"/>
            <a:ext cx="9524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74" y="2714625"/>
            <a:ext cx="46671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Table Settings: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674" y="290512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Table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1290" y="290512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Seating 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674" y="309562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Type (indoor/outdoor/bar)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1290" y="309562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Minimum covers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674" y="328612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86382" y="11906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Floor Plan Layout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689" y="1609724"/>
            <a:ext cx="4914777" cy="342900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10184" y="1800225"/>
            <a:ext cx="453378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62580" y="2086235"/>
            <a:ext cx="228594" cy="3757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62580" y="2333624"/>
            <a:ext cx="42289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Drag tables to position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10184" y="2867025"/>
            <a:ext cx="453378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62580" y="3100387"/>
            <a:ext cx="228594" cy="1428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62580" y="3400425"/>
            <a:ext cx="42289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walls, barriers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10184" y="3933824"/>
            <a:ext cx="4533786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62580" y="4167187"/>
            <a:ext cx="228594" cy="1428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62580" y="4467224"/>
            <a:ext cx="42289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Label sections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719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Restaurant-Specific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39099" y="247649"/>
            <a:ext cx="148586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9099" y="247649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12.4 - 12.5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2600259" cy="509587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4762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37848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533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dining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914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737848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1914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Turn time between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295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37848" y="2414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2295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Auto-assign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676524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737848" y="27959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28" y="2676524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Deposit 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9389" y="1000125"/>
            <a:ext cx="2600259" cy="509587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937492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09884" y="121121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57528" y="1171575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Kitchen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9884" y="1533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490504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9884" y="1533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prep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9884" y="1914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490504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9884" y="1914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Course timing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9884" y="2295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490504" y="2414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9884" y="2295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KDS settings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9884" y="2676524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490504" y="27959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884" y="2676524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Printer routing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045" y="1000125"/>
            <a:ext cx="2600259" cy="509587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62540" y="1222272"/>
            <a:ext cx="171445" cy="1272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10184" y="1171575"/>
            <a:ext cx="6572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62540" y="1533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243160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2540" y="1533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Service charge 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62540" y="1914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243160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2540" y="1914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tip options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2540" y="2295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6243160" y="2414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2540" y="2295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Gratuity for parties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4701" y="1000125"/>
            <a:ext cx="2600259" cy="509587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644280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15197" y="1222272"/>
            <a:ext cx="171445" cy="12720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62840" y="1171575"/>
            <a:ext cx="2666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15197" y="1533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8995817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15197" y="1533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VAT: </a:t>
            </a:r>
            <a:r>
              <a:rPr sz="71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14.5%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15197" y="1914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8995817" y="2033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15197" y="1914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Takeaway vs dine-in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15197" y="2295525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8995817" y="2414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15197" y="2295525"/>
            <a:ext cx="22573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Tax-exempt items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004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Troubleshooting &amp;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3436" y="247649"/>
            <a:ext cx="97152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436" y="247649"/>
            <a:ext cx="9715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3976"/>
            <a:ext cx="171445" cy="143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Common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4990975" cy="5333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23549" y="17672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25" y="162877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not in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25" y="181927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network, KDS online, printer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143125"/>
            <a:ext cx="4990975" cy="5333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23549" y="23768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223837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Table not updating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25" y="242887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Refresh floor plan, check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752725"/>
            <a:ext cx="4990975" cy="533399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23549" y="29864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25" y="2847974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not deducting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25" y="303847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Verify recipe linked, check quantities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16741"/>
            <a:ext cx="171445" cy="1382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9234" y="1171575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Getting Help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533525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238398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1590" y="1533525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help.appex.co.zw/restaurant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646301"/>
            <a:ext cx="133346" cy="1173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381590" y="196214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238398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1590" y="1962149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restaurant-support@appex.co.zw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2082927"/>
            <a:ext cx="133346" cy="10134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381590" y="239077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238398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1590" y="2390774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+263 242 123456 (option 1)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76838" y="2508884"/>
            <a:ext cx="133346" cy="10668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381590" y="281939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238398" y="296259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1590" y="2819399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WhatsApp: +263 77 123 4567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2932175"/>
            <a:ext cx="133346" cy="117348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6674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Quick Reference - Key Terms &amp; Shortcuts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3436" y="247649"/>
            <a:ext cx="97152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436" y="247649"/>
            <a:ext cx="9715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0889"/>
            <a:ext cx="171445" cy="1299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Key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56899" y="16338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Point of Sale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290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280961" y="16338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1290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KDS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Kitchen Display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56899" y="195770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COGS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Cost of Goods Sold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1290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280961" y="195770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1290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Cover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Individual guest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1812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56899" y="22815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21812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Turnover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Table uses per service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1290" y="21812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280961" y="22815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1290" y="21812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Menu customization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228" y="2505074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756899" y="2605403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28" y="2505074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Course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Meal part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1290" y="2505074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280961" y="2605403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1290" y="2505074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Service Charge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Auto gratuity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228" y="28289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756899" y="29292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228" y="28289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No-show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Missed reservation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1290" y="28289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3280961" y="29292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1290" y="28289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Waitlist</a:t>
            </a: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- Waiting guests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30568"/>
            <a:ext cx="171445" cy="1106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29234" y="1171575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Keyboard Shortcuts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1533525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176486" y="17386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5887" y="167640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Order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67753" y="1628775"/>
            <a:ext cx="409564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67753" y="1628775"/>
            <a:ext cx="4095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1590" y="2085975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6176486" y="229107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5887" y="222885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Table 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67753" y="2181225"/>
            <a:ext cx="409564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67753" y="2181225"/>
            <a:ext cx="4095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81590" y="2638425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176486" y="28435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5887" y="2781300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Kitchen View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58228" y="2733674"/>
            <a:ext cx="419089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58228" y="2733674"/>
            <a:ext cx="41908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81590" y="3190874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6176486" y="3395978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5887" y="3333749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867753" y="3286125"/>
            <a:ext cx="409564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67753" y="3286125"/>
            <a:ext cx="4095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81590" y="3743325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6176486" y="39484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5887" y="3886200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Bill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867753" y="3838574"/>
            <a:ext cx="409564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67753" y="3838574"/>
            <a:ext cx="4095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81590" y="4295774"/>
            <a:ext cx="4990975" cy="476249"/>
          </a:xfrm>
          <a:prstGeom prst="roundRect">
            <a:avLst>
              <a:gd name="adj" fmla="val 3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 Same Side Corner Rectangle 71"/>
          <p:cNvSpPr/>
          <p:nvPr/>
        </p:nvSpPr>
        <p:spPr>
          <a:xfrm rot="16200000">
            <a:off x="6176486" y="4500878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5887" y="4438649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Reservation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43911" y="4391025"/>
            <a:ext cx="733406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43911" y="4391025"/>
            <a:ext cx="73340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Ctrl + 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