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11.png"/><Relationship Id="rId13" Type="http://schemas.openxmlformats.org/officeDocument/2006/relationships/image" Target="../media/image2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35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1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4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Relationship Id="rId10" Type="http://schemas.openxmlformats.org/officeDocument/2006/relationships/image" Target="../media/image58.png"/><Relationship Id="rId11" Type="http://schemas.openxmlformats.org/officeDocument/2006/relationships/image" Target="../media/image59.png"/><Relationship Id="rId12" Type="http://schemas.openxmlformats.org/officeDocument/2006/relationships/image" Target="../media/image60.png"/><Relationship Id="rId13" Type="http://schemas.openxmlformats.org/officeDocument/2006/relationships/image" Target="../media/image61.png"/><Relationship Id="rId14" Type="http://schemas.openxmlformats.org/officeDocument/2006/relationships/image" Target="../media/image62.png"/><Relationship Id="rId15" Type="http://schemas.openxmlformats.org/officeDocument/2006/relationships/image" Target="../media/image63.png"/><Relationship Id="rId16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41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Relationship Id="rId9" Type="http://schemas.openxmlformats.org/officeDocument/2006/relationships/image" Target="../media/image70.png"/><Relationship Id="rId10" Type="http://schemas.openxmlformats.org/officeDocument/2006/relationships/image" Target="../media/image71.png"/><Relationship Id="rId11" Type="http://schemas.openxmlformats.org/officeDocument/2006/relationships/image" Target="../media/image7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8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Relationship Id="rId7" Type="http://schemas.openxmlformats.org/officeDocument/2006/relationships/image" Target="../media/image86.png"/><Relationship Id="rId8" Type="http://schemas.openxmlformats.org/officeDocument/2006/relationships/image" Target="../media/image94.png"/><Relationship Id="rId9" Type="http://schemas.openxmlformats.org/officeDocument/2006/relationships/image" Target="../media/image95.png"/><Relationship Id="rId10" Type="http://schemas.openxmlformats.org/officeDocument/2006/relationships/image" Target="../media/image96.png"/><Relationship Id="rId11" Type="http://schemas.openxmlformats.org/officeDocument/2006/relationships/image" Target="../media/image9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Relationship Id="rId3" Type="http://schemas.openxmlformats.org/officeDocument/2006/relationships/image" Target="../media/image97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Relationship Id="rId7" Type="http://schemas.openxmlformats.org/officeDocument/2006/relationships/image" Target="../media/image102.png"/><Relationship Id="rId8" Type="http://schemas.openxmlformats.org/officeDocument/2006/relationships/image" Target="../media/image103.png"/><Relationship Id="rId9" Type="http://schemas.openxmlformats.org/officeDocument/2006/relationships/image" Target="../media/image104.png"/><Relationship Id="rId10" Type="http://schemas.openxmlformats.org/officeDocument/2006/relationships/image" Target="../media/image105.png"/><Relationship Id="rId11" Type="http://schemas.openxmlformats.org/officeDocument/2006/relationships/image" Target="../media/image106.png"/><Relationship Id="rId12" Type="http://schemas.openxmlformats.org/officeDocument/2006/relationships/image" Target="../media/image10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image" Target="../media/image86.png"/><Relationship Id="rId4" Type="http://schemas.openxmlformats.org/officeDocument/2006/relationships/image" Target="../media/image35.png"/><Relationship Id="rId5" Type="http://schemas.openxmlformats.org/officeDocument/2006/relationships/image" Target="../media/image109.png"/><Relationship Id="rId6" Type="http://schemas.openxmlformats.org/officeDocument/2006/relationships/image" Target="../media/image110.png"/><Relationship Id="rId7" Type="http://schemas.openxmlformats.org/officeDocument/2006/relationships/image" Target="../media/image1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858028" y="-1904999"/>
            <a:ext cx="4762380" cy="4762500"/>
          </a:xfrm>
          <a:prstGeom prst="roundRect">
            <a:avLst>
              <a:gd name="adj" fmla="val 50000"/>
            </a:avLst>
          </a:prstGeom>
          <a:solidFill>
            <a:srgbClr val="DC262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52476" y="4667249"/>
            <a:ext cx="3333666" cy="3333749"/>
          </a:xfrm>
          <a:prstGeom prst="roundRect">
            <a:avLst>
              <a:gd name="adj" fmla="val 50000"/>
            </a:avLst>
          </a:prstGeom>
          <a:solidFill>
            <a:srgbClr val="1E40A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29314" y="3047999"/>
            <a:ext cx="2381190" cy="2381250"/>
          </a:xfrm>
          <a:prstGeom prst="roundRect">
            <a:avLst>
              <a:gd name="adj" fmla="val 50000"/>
            </a:avLst>
          </a:prstGeom>
          <a:solidFill>
            <a:srgbClr val="DC2626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6733" y="1562100"/>
            <a:ext cx="1619209" cy="419100"/>
          </a:xfrm>
          <a:prstGeom prst="roundRect">
            <a:avLst>
              <a:gd name="adj" fmla="val 454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6733" y="1562100"/>
            <a:ext cx="1619209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SECTIONS 6-8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57228" y="1696986"/>
            <a:ext cx="171445" cy="1493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6733" y="2286000"/>
            <a:ext cx="7676958" cy="1333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550"/>
              </a:lnSpc>
              <a:spcBef>
                <a:spcPts val="0"/>
              </a:spcBef>
              <a:spcAft>
                <a:spcPts val="1560"/>
              </a:spcAft>
            </a:pP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Inventory, Supplier</a:t>
            </a:r>
            <a:r>
              <a:rPr sz="1104"/>
              <a:t>
</a:t>
            </a:r>
            <a:r>
              <a:rPr sz="3348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 &amp; Customer Management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33" y="3848099"/>
            <a:ext cx="7676958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2600"/>
              </a:spcAft>
            </a:pP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315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Staff Training Guide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857625"/>
            <a:ext cx="57148" cy="304800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6733" y="4552949"/>
            <a:ext cx="914377" cy="57150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5054917"/>
            <a:ext cx="228594" cy="1771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9624" y="5029200"/>
            <a:ext cx="390515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Comprehensive Operations Training for Butchery Staff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24681" y="1543050"/>
            <a:ext cx="2800279" cy="3771900"/>
          </a:xfrm>
          <a:prstGeom prst="roundRect">
            <a:avLst>
              <a:gd name="adj" fmla="val 108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6904771" y="3362960"/>
            <a:ext cx="3771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67573" y="1847849"/>
            <a:ext cx="21525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560"/>
              </a:spcAft>
            </a:pPr>
            <a:r>
              <a:rPr sz="837" b="1">
                <a:solidFill>
                  <a:srgbClr val="6B7280"/>
                </a:solidFill>
                <a:latin typeface="Inter"/>
                <a:rFonts ascii="Inter" hAnsi="Inter" eastAsia="Inter" cs="Inter"/>
              </a:rPr>
              <a:t>KEY TOPICS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7573" y="226695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62820" y="2417445"/>
            <a:ext cx="228594" cy="19430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639059" y="2266950"/>
            <a:ext cx="12763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Inventory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9059" y="2514600"/>
            <a:ext cx="12763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Products &amp; Stock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7573" y="2971800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162820" y="3136582"/>
            <a:ext cx="228594" cy="16573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39059" y="2971800"/>
            <a:ext cx="13334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Supplier Relations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9059" y="3219449"/>
            <a:ext cx="133346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Purchasing &amp; Orders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67573" y="367664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62820" y="3852862"/>
            <a:ext cx="228594" cy="14287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39059" y="3676649"/>
            <a:ext cx="132394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Customer Service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39059" y="3924299"/>
            <a:ext cx="13239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Loyalty &amp; Accounts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67573" y="4381499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62820" y="4531995"/>
            <a:ext cx="228594" cy="19430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39059" y="4381499"/>
            <a:ext cx="15811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Quality 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9059" y="4629150"/>
            <a:ext cx="1581110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13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Temperature &amp; Freshness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911519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Inventory Management - Accessing &amp;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1495" y="247649"/>
            <a:ext cx="1333466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1495" y="247649"/>
            <a:ext cx="13334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6.1 - 6.2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114425"/>
            <a:ext cx="5314817" cy="2476499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505476" y="2286634"/>
            <a:ext cx="2476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3426" y="1343025"/>
            <a:ext cx="457188" cy="552450"/>
          </a:xfrm>
          <a:prstGeom prst="roundRect">
            <a:avLst>
              <a:gd name="adj" fmla="val 3333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47723" y="1521142"/>
            <a:ext cx="228594" cy="177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04912" y="1466849"/>
            <a:ext cx="195257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 Inventory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3426" y="2066924"/>
            <a:ext cx="190495" cy="380999"/>
          </a:xfrm>
          <a:prstGeom prst="roundRect">
            <a:avLst>
              <a:gd name="adj" fmla="val 99990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0575" y="2152650"/>
            <a:ext cx="7619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8219" y="2047874"/>
            <a:ext cx="22764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95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"Inventory"</a:t>
            </a: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in left sidebar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26" y="2581275"/>
            <a:ext cx="219069" cy="380999"/>
          </a:xfrm>
          <a:prstGeom prst="roundRect">
            <a:avLst>
              <a:gd name="adj" fmla="val 86947826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0575" y="2667000"/>
            <a:ext cx="10477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6793" y="2562224"/>
            <a:ext cx="289552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Dashboard opens with all inventory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33" y="3819524"/>
            <a:ext cx="5314817" cy="24384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-486427" y="4972684"/>
            <a:ext cx="2438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33426" y="4103370"/>
            <a:ext cx="228594" cy="19430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38219" y="4067174"/>
            <a:ext cx="10000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Central Hub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426" y="4467224"/>
            <a:ext cx="4819529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Dashboard provides real-time overview of all inventory operations and alerts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210144" y="1178242"/>
            <a:ext cx="228594" cy="17716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14937" y="1133475"/>
            <a:ext cx="195257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Dashboard Overview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0144" y="1571625"/>
            <a:ext cx="2581210" cy="13335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400639" y="1852332"/>
            <a:ext cx="190495" cy="1624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819829" y="1857375"/>
            <a:ext cx="78103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Total Products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639" y="2143125"/>
            <a:ext cx="220021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247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639" y="2524125"/>
            <a:ext cx="22002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In Stock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43751" y="1571625"/>
            <a:ext cx="2581210" cy="13335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134246" y="1857935"/>
            <a:ext cx="190495" cy="15127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039199" y="1857375"/>
            <a:ext cx="2952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Value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4246" y="2143125"/>
            <a:ext cx="220021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$45,820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34246" y="2524125"/>
            <a:ext cx="22002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Total Inventory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0144" y="3057525"/>
            <a:ext cx="2581210" cy="13335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3302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00639" y="3341033"/>
            <a:ext cx="190495" cy="15688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286542" y="3343275"/>
            <a:ext cx="3143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Alerts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639" y="3629025"/>
            <a:ext cx="220021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639" y="4010024"/>
            <a:ext cx="22002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Low Stock Items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43751" y="3057525"/>
            <a:ext cx="2581210" cy="1333500"/>
          </a:xfrm>
          <a:prstGeom prst="roundRect">
            <a:avLst>
              <a:gd name="adj" fmla="val 17142"/>
            </a:avLst>
          </a:prstGeom>
          <a:solidFill>
            <a:srgbClr val="FFFFFF"/>
          </a:solidFill>
          <a:ln w="330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134246" y="3338232"/>
            <a:ext cx="190495" cy="16248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896327" y="3343275"/>
            <a:ext cx="4381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Expiring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34246" y="3629025"/>
            <a:ext cx="220021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34246" y="4010024"/>
            <a:ext cx="22002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Expiring Soon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0144" y="4543425"/>
            <a:ext cx="5314817" cy="12192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5666584" y="5086985"/>
            <a:ext cx="1219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438739" y="4805642"/>
            <a:ext cx="190495" cy="12326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705432" y="4752974"/>
            <a:ext cx="200972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Stock Movement Summary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38739" y="5114925"/>
            <a:ext cx="155253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Received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38739" y="5305425"/>
            <a:ext cx="155253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+156 kg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05572" y="5114925"/>
            <a:ext cx="155253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Sold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05572" y="5305425"/>
            <a:ext cx="155253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-98 kg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1930" y="5114925"/>
            <a:ext cx="155253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Adjusted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81930" y="5305425"/>
            <a:ext cx="155253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-12 kg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801032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Managing Products - Adding New Products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96287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96287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143171" cy="190499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219726" y="1886584"/>
            <a:ext cx="1904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204436"/>
            <a:ext cx="228594" cy="27717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00119" y="1209674"/>
            <a:ext cx="6857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5327" y="16097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99" y="1647825"/>
            <a:ext cx="571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8219" y="1628775"/>
            <a:ext cx="10572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95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Products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5327" y="197167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0575" y="2009774"/>
            <a:ext cx="857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8219" y="1990724"/>
            <a:ext cx="16858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95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Add New Product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3057525"/>
            <a:ext cx="3143171" cy="3571875"/>
          </a:xfrm>
          <a:prstGeom prst="roundRect">
            <a:avLst>
              <a:gd name="adj" fmla="val 7272"/>
            </a:avLst>
          </a:prstGeom>
          <a:gradFill rotWithShape="1">
            <a:gsLst>
              <a:gs pos="0">
                <a:srgbClr val="FEF2F2"/>
              </a:gs>
              <a:gs pos="100000">
                <a:srgbClr val="EFF6FF"/>
              </a:gs>
            </a:gsLst>
            <a:lin scaled="0" ang="8100000"/>
          </a:gra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66753" y="3309657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33446" y="3257550"/>
            <a:ext cx="11143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Save Product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6753" y="3638550"/>
            <a:ext cx="2743131" cy="590549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8255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285842" y="3823023"/>
            <a:ext cx="285742" cy="22160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47783" y="3819524"/>
            <a:ext cx="154301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"Save Product"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66753" y="4411435"/>
            <a:ext cx="152396" cy="1306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95347" y="4343400"/>
            <a:ext cx="17049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Product added to database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66753" y="4735285"/>
            <a:ext cx="152396" cy="13062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95347" y="4667249"/>
            <a:ext cx="17335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Available for immediate use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00399" y="1000125"/>
            <a:ext cx="3981350" cy="5143500"/>
          </a:xfrm>
          <a:prstGeom prst="roundRect">
            <a:avLst>
              <a:gd name="adj" fmla="val 5741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152796" y="11906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228994" y="1318932"/>
            <a:ext cx="190495" cy="16248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571885" y="1276350"/>
            <a:ext cx="12763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Product Details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52796" y="1743075"/>
            <a:ext cx="3676558" cy="628650"/>
          </a:xfrm>
          <a:prstGeom prst="roundRect">
            <a:avLst>
              <a:gd name="adj" fmla="val 24242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4257568" y="1913164"/>
            <a:ext cx="152396" cy="9797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486162" y="1866899"/>
            <a:ext cx="9143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Product Name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38819" y="1885950"/>
            <a:ext cx="48576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DC2626"/>
                </a:solidFill>
                <a:latin typeface="Inter"/>
                <a:rFonts ascii="Inter" hAnsi="Inter" eastAsia="Inter" cs="Inter"/>
              </a:rPr>
              <a:t>Required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6162" y="2114550"/>
            <a:ext cx="323841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e.g., "T-Bone Steak"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52796" y="2466975"/>
            <a:ext cx="3676558" cy="438149"/>
          </a:xfrm>
          <a:prstGeom prst="roundRect">
            <a:avLst>
              <a:gd name="adj" fmla="val 34782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257568" y="2626178"/>
            <a:ext cx="152396" cy="11974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4486162" y="2590799"/>
            <a:ext cx="93342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SKU / Barcode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5452" y="2609850"/>
            <a:ext cx="8191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Auto or Manual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52796" y="3000375"/>
            <a:ext cx="3676558" cy="6858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257568" y="3154135"/>
            <a:ext cx="152396" cy="130628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486162" y="3124200"/>
            <a:ext cx="6000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Category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86162" y="3390899"/>
            <a:ext cx="400039" cy="190499"/>
          </a:xfrm>
          <a:prstGeom prst="roundRect">
            <a:avLst>
              <a:gd name="adj" fmla="val 40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6162" y="3390899"/>
            <a:ext cx="4000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Beef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43351" y="3390899"/>
            <a:ext cx="400039" cy="190499"/>
          </a:xfrm>
          <a:prstGeom prst="roundRect">
            <a:avLst>
              <a:gd name="adj" fmla="val 40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43351" y="3390899"/>
            <a:ext cx="4000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Pork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00539" y="3390899"/>
            <a:ext cx="590535" cy="190499"/>
          </a:xfrm>
          <a:prstGeom prst="roundRect">
            <a:avLst>
              <a:gd name="adj" fmla="val 40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00539" y="3390899"/>
            <a:ext cx="59053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Chicken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52796" y="3781424"/>
            <a:ext cx="3676558" cy="6858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257568" y="3941989"/>
            <a:ext cx="152396" cy="117021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486162" y="3905249"/>
            <a:ext cx="8286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Subcategory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486162" y="4171950"/>
            <a:ext cx="342891" cy="19049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86162" y="4171950"/>
            <a:ext cx="3428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Cut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886202" y="4171950"/>
            <a:ext cx="723881" cy="19049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86202" y="4171950"/>
            <a:ext cx="72388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Processed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667233" y="4171950"/>
            <a:ext cx="761980" cy="19049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667233" y="4171950"/>
            <a:ext cx="7619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By-product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152796" y="4562475"/>
            <a:ext cx="3676558" cy="438149"/>
          </a:xfrm>
          <a:prstGeom prst="roundRect">
            <a:avLst>
              <a:gd name="adj" fmla="val 34782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4257568" y="4724399"/>
            <a:ext cx="152396" cy="1143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4486162" y="4686300"/>
            <a:ext cx="5333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Supplier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152796" y="5276850"/>
            <a:ext cx="3676558" cy="41910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48043" y="5391150"/>
            <a:ext cx="55243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Tax Rate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67393" y="5372100"/>
            <a:ext cx="46671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14.5%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172245" y="1000125"/>
            <a:ext cx="3352716" cy="2428875"/>
          </a:xfrm>
          <a:prstGeom prst="roundRect">
            <a:avLst>
              <a:gd name="adj" fmla="val 9411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324641" y="1248335"/>
            <a:ext cx="190495" cy="151279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8591335" y="1190625"/>
            <a:ext cx="59053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Pricing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324641" y="1571625"/>
            <a:ext cx="1485862" cy="552450"/>
          </a:xfrm>
          <a:prstGeom prst="roundRect">
            <a:avLst>
              <a:gd name="adj" fmla="val 27586"/>
            </a:avLst>
          </a:prstGeom>
          <a:gradFill rotWithShape="1">
            <a:gsLst>
              <a:gs pos="0">
                <a:srgbClr val="FEF2F2"/>
              </a:gs>
              <a:gs pos="100000">
                <a:srgbClr val="FFF7ED"/>
              </a:gs>
            </a:gsLst>
            <a:lin scaled="0" ang="8100000"/>
          </a:gradFill>
          <a:ln w="8255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0364" y="1657350"/>
            <a:ext cx="13144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Cost Price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410364" y="1847849"/>
            <a:ext cx="352416" cy="1904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10364" y="1847849"/>
            <a:ext cx="35241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USD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800879" y="1847849"/>
            <a:ext cx="361940" cy="1904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800879" y="1847849"/>
            <a:ext cx="3619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ZWL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886702" y="1571625"/>
            <a:ext cx="1485862" cy="552450"/>
          </a:xfrm>
          <a:prstGeom prst="roundRect">
            <a:avLst>
              <a:gd name="adj" fmla="val 27586"/>
            </a:avLst>
          </a:prstGeom>
          <a:gradFill rotWithShape="1">
            <a:gsLst>
              <a:gs pos="0">
                <a:srgbClr val="EFF6FF"/>
              </a:gs>
              <a:gs pos="100000">
                <a:srgbClr val="ECFEFF"/>
              </a:gs>
            </a:gsLst>
            <a:lin scaled="0" ang="8100000"/>
          </a:gra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972425" y="1657350"/>
            <a:ext cx="13144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Selling Price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972425" y="1847849"/>
            <a:ext cx="352416" cy="1904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72425" y="1847849"/>
            <a:ext cx="35241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USD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362940" y="1847849"/>
            <a:ext cx="361940" cy="1904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362940" y="1847849"/>
            <a:ext cx="3619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ZWL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324641" y="2200275"/>
            <a:ext cx="3047923" cy="361950"/>
          </a:xfrm>
          <a:prstGeom prst="roundRect">
            <a:avLst>
              <a:gd name="adj" fmla="val 42105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410364" y="2286000"/>
            <a:ext cx="10381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Wholesale Price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29634" y="2305049"/>
            <a:ext cx="65720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If applicable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172245" y="3581400"/>
            <a:ext cx="3352716" cy="2686050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324641" y="3829610"/>
            <a:ext cx="190495" cy="151279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591335" y="3771900"/>
            <a:ext cx="15430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Inventory Settings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324641" y="4152899"/>
            <a:ext cx="3047923" cy="361950"/>
          </a:xfrm>
          <a:prstGeom prst="roundRect">
            <a:avLst>
              <a:gd name="adj" fmla="val 42105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410364" y="4238624"/>
            <a:ext cx="89532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Current Stock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696307" y="4257675"/>
            <a:ext cx="59053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kg / pieces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324641" y="4591050"/>
            <a:ext cx="1485862" cy="400050"/>
          </a:xfrm>
          <a:prstGeom prst="roundRect">
            <a:avLst>
              <a:gd name="adj" fmla="val 38095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410364" y="4733925"/>
            <a:ext cx="523861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Min Level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9886702" y="4591050"/>
            <a:ext cx="1485862" cy="400050"/>
          </a:xfrm>
          <a:prstGeom prst="roundRect">
            <a:avLst>
              <a:gd name="adj" fmla="val 38095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972425" y="4733925"/>
            <a:ext cx="561960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Max Level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324641" y="5067299"/>
            <a:ext cx="3047923" cy="361950"/>
          </a:xfrm>
          <a:prstGeom prst="roundRect">
            <a:avLst>
              <a:gd name="adj" fmla="val 42105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410364" y="5153024"/>
            <a:ext cx="87627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Reorder Point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324641" y="5505450"/>
            <a:ext cx="3047923" cy="6096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FEF2F2"/>
              </a:gs>
              <a:gs pos="100000">
                <a:srgbClr val="EFF6FF"/>
              </a:gs>
            </a:gsLst>
            <a:lin scaled="0" ang="10800000"/>
          </a:gradFill>
          <a:ln w="8255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410364" y="5591175"/>
            <a:ext cx="10953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Storage Location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410364" y="5838824"/>
            <a:ext cx="495287" cy="1904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410364" y="5838824"/>
            <a:ext cx="49528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Chiller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962800" y="5838824"/>
            <a:ext cx="561960" cy="1904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62800" y="5838824"/>
            <a:ext cx="5619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Freezer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9581910" y="5838824"/>
            <a:ext cx="581010" cy="190499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581910" y="5838824"/>
            <a:ext cx="58101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Counter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5305425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380999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0"/>
            <a:ext cx="9639059" cy="11430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Managing Products - Butchery-Specific &amp; Edit/Import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337" y="323849"/>
            <a:ext cx="1009624" cy="495299"/>
          </a:xfrm>
          <a:prstGeom prst="roundRect">
            <a:avLst>
              <a:gd name="adj" fmla="val 38457692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337" y="323849"/>
            <a:ext cx="1009624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451610"/>
            <a:ext cx="228594" cy="1828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1525" y="1409699"/>
            <a:ext cx="229546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Butchery-Specific Fields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1847849"/>
            <a:ext cx="3724181" cy="4905375"/>
          </a:xfrm>
          <a:prstGeom prst="roundRect">
            <a:avLst>
              <a:gd name="adj" fmla="val 61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-1719914" y="4234496"/>
            <a:ext cx="49053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327" y="2038349"/>
            <a:ext cx="3305092" cy="704849"/>
          </a:xfrm>
          <a:prstGeom prst="roundRect">
            <a:avLst>
              <a:gd name="adj" fmla="val 21621"/>
            </a:avLst>
          </a:prstGeom>
          <a:solidFill>
            <a:srgbClr val="FFFFFF"/>
          </a:solidFill>
          <a:ln w="8255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19149" y="2233332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23941" y="2162174"/>
            <a:ext cx="197162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Average Weight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3941" y="2428875"/>
            <a:ext cx="197162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Weight per piece (if applicable)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27" y="2895600"/>
            <a:ext cx="3305092" cy="704849"/>
          </a:xfrm>
          <a:prstGeom prst="roundRect">
            <a:avLst>
              <a:gd name="adj" fmla="val 21621"/>
            </a:avLst>
          </a:prstGeom>
          <a:solidFill>
            <a:srgbClr val="FFFFFF"/>
          </a:solidFill>
          <a:ln w="8255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19149" y="3090582"/>
            <a:ext cx="190495" cy="16248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23941" y="3019424"/>
            <a:ext cx="16001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Cut 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3941" y="3286125"/>
            <a:ext cx="16001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Classification of meat cut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327" y="3752849"/>
            <a:ext cx="3305092" cy="704849"/>
          </a:xfrm>
          <a:prstGeom prst="roundRect">
            <a:avLst>
              <a:gd name="adj" fmla="val 21621"/>
            </a:avLst>
          </a:prstGeom>
          <a:solidFill>
            <a:srgbClr val="FFFFFF"/>
          </a:solidFill>
          <a:ln w="8255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19149" y="3946431"/>
            <a:ext cx="190495" cy="16528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23941" y="3876674"/>
            <a:ext cx="17620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Processing Instructions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3941" y="4143375"/>
            <a:ext cx="17620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Special handling notes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27" y="4610099"/>
            <a:ext cx="3305092" cy="704849"/>
          </a:xfrm>
          <a:prstGeom prst="roundRect">
            <a:avLst>
              <a:gd name="adj" fmla="val 21621"/>
            </a:avLst>
          </a:prstGeom>
          <a:solidFill>
            <a:srgbClr val="FFFFFF"/>
          </a:solidFill>
          <a:ln w="8255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019149" y="4803681"/>
            <a:ext cx="190495" cy="16528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323941" y="4733925"/>
            <a:ext cx="12763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Shelf Life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3941" y="5000625"/>
            <a:ext cx="12763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Days until expiration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5327" y="5467349"/>
            <a:ext cx="3305092" cy="704849"/>
          </a:xfrm>
          <a:prstGeom prst="roundRect">
            <a:avLst>
              <a:gd name="adj" fmla="val 21621"/>
            </a:avLst>
          </a:prstGeom>
          <a:solidFill>
            <a:srgbClr val="FFFFFF"/>
          </a:solidFill>
          <a:ln w="8255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19149" y="5662332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323941" y="5591175"/>
            <a:ext cx="16668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Storage Temperature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3941" y="5857875"/>
            <a:ext cx="16668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Temperature requirements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19509" y="1390650"/>
            <a:ext cx="3362240" cy="5591175"/>
          </a:xfrm>
          <a:prstGeom prst="roundRect">
            <a:avLst>
              <a:gd name="adj" fmla="val 6798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810004" y="1674495"/>
            <a:ext cx="228594" cy="19430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114797" y="1638299"/>
            <a:ext cx="12382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Edit Products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10004" y="2095499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14777" y="2133599"/>
            <a:ext cx="571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52896" y="2076449"/>
            <a:ext cx="13620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Navigate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52896" y="2305049"/>
            <a:ext cx="13620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Inventory → Products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10004" y="2628900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95727" y="2667000"/>
            <a:ext cx="857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52896" y="2609850"/>
            <a:ext cx="116202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Search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52896" y="2838450"/>
            <a:ext cx="116202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Find product in list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10004" y="3162299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95727" y="3200400"/>
            <a:ext cx="857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52896" y="3143250"/>
            <a:ext cx="131441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Product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52896" y="3371850"/>
            <a:ext cx="131441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Open product details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10004" y="3695699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95727" y="3733799"/>
            <a:ext cx="857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52896" y="3676649"/>
            <a:ext cx="128584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Edit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52896" y="3905249"/>
            <a:ext cx="12858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Enable editing mode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10004" y="4229100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95727" y="4267199"/>
            <a:ext cx="857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52896" y="4210049"/>
            <a:ext cx="153348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Make Changes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52896" y="4438649"/>
            <a:ext cx="15334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Update necessary fields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810004" y="4762500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4876678" y="4851844"/>
            <a:ext cx="133346" cy="88011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152896" y="4743450"/>
            <a:ext cx="10572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Save Changes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52896" y="4972050"/>
            <a:ext cx="10572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Apply updates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162720" y="1390650"/>
            <a:ext cx="3362240" cy="5591175"/>
          </a:xfrm>
          <a:prstGeom prst="roundRect">
            <a:avLst>
              <a:gd name="adj" fmla="val 6798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353216" y="1674495"/>
            <a:ext cx="228594" cy="194309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8658008" y="1638299"/>
            <a:ext cx="106677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Bulk Import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353216" y="2095499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57988" y="2133599"/>
            <a:ext cx="571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96107" y="2076449"/>
            <a:ext cx="159063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Import Products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353216" y="2495550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48463" y="2533649"/>
            <a:ext cx="857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96107" y="2476499"/>
            <a:ext cx="181922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Download CSV Template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353216" y="2895600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48463" y="2933699"/>
            <a:ext cx="857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96107" y="2876549"/>
            <a:ext cx="147633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Fill in Product Data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96107" y="3105149"/>
            <a:ext cx="14763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In Excel or spreadsheet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353216" y="3429000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48463" y="3467100"/>
            <a:ext cx="857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96107" y="3409950"/>
            <a:ext cx="118107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Upload CSV File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353216" y="3829050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8419889" y="3918394"/>
            <a:ext cx="133346" cy="88011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696107" y="3809999"/>
            <a:ext cx="182875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Review &amp; Confirm Import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353216" y="4371975"/>
            <a:ext cx="2981250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467513" y="4535260"/>
            <a:ext cx="152396" cy="13062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8696107" y="4524374"/>
            <a:ext cx="24383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Import multiple products at once to save time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0" y="7134225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790555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Stock Management - Count &amp; Adjustments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5333866" cy="5105400"/>
          </a:xfrm>
          <a:prstGeom prst="roundRect">
            <a:avLst>
              <a:gd name="adj" fmla="val 447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9927" y="3524884"/>
            <a:ext cx="5105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2287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90575" y="1387792"/>
            <a:ext cx="228594" cy="177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28714" y="1352549"/>
            <a:ext cx="305744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Stock Count (Physical Inventory)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895474"/>
            <a:ext cx="4914777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0575" y="19907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575" y="19907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367" y="2009774"/>
            <a:ext cx="23716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Inventory → Stock Count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327" y="2409825"/>
            <a:ext cx="4914777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90575" y="25050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0575" y="250507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5367" y="2524125"/>
            <a:ext cx="16096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"New Stock Count"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2924175"/>
            <a:ext cx="4914777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90575" y="30194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0575" y="30194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5367" y="3038475"/>
            <a:ext cx="158111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products to count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5327" y="3438525"/>
            <a:ext cx="4914777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90575" y="35337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0575" y="353377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5367" y="3552825"/>
            <a:ext cx="1438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Enter actual quantities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5327" y="3952874"/>
            <a:ext cx="4914777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90575" y="40481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0575" y="40481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5367" y="4067174"/>
            <a:ext cx="17620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System calculates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variance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5327" y="4467224"/>
            <a:ext cx="4914777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90575" y="45624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0575" y="45624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5367" y="4581524"/>
            <a:ext cx="15334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 notes for variances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5327" y="4981574"/>
            <a:ext cx="4914777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90575" y="50768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0575" y="50768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95367" y="5095874"/>
            <a:ext cx="15430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"Complete Count"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5327" y="5495924"/>
            <a:ext cx="4914777" cy="4572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90575" y="5649861"/>
            <a:ext cx="171445" cy="14932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238219" y="5629275"/>
            <a:ext cx="162873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System adjusts inventory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1095" y="1038224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3709198" y="3520121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19689" y="12287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14937" y="1387792"/>
            <a:ext cx="228594" cy="17716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953076" y="1352549"/>
            <a:ext cx="17620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Stock Adjustments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19689" y="19145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05412" y="1952624"/>
            <a:ext cx="4762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24481" y="1895474"/>
            <a:ext cx="2400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Inventory → Adjust Stock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19689" y="22764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5887" y="2314575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4481" y="2257425"/>
            <a:ext cx="15334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product to adjust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19689" y="2657475"/>
            <a:ext cx="4914777" cy="1866899"/>
          </a:xfrm>
          <a:prstGeom prst="roundRect">
            <a:avLst>
              <a:gd name="adj" fmla="val 8163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43511" y="2781300"/>
            <a:ext cx="46671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Adjustment Reason: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43511" y="3047999"/>
            <a:ext cx="2295467" cy="40005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229294" y="3190874"/>
            <a:ext cx="914377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Damaged Goods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15177" y="3047999"/>
            <a:ext cx="2295467" cy="40005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825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781930" y="3190874"/>
            <a:ext cx="561960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Shrinkage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43511" y="3524250"/>
            <a:ext cx="2295467" cy="40005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825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43611" y="3667124"/>
            <a:ext cx="295267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Theft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915177" y="3524250"/>
            <a:ext cx="2295467" cy="40005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58108" y="3667124"/>
            <a:ext cx="819129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Found in Stock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543511" y="4000500"/>
            <a:ext cx="4667133" cy="40005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10364" y="4143375"/>
            <a:ext cx="933426" cy="1428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Quality Rejection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19689" y="46577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95887" y="4695824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24481" y="4638674"/>
            <a:ext cx="16668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Enter adjustment quantity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19689" y="50006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95887" y="5038724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24481" y="4981574"/>
            <a:ext cx="65720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 notes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419689" y="5324474"/>
            <a:ext cx="4914777" cy="457200"/>
          </a:xfrm>
          <a:prstGeom prst="roundRect">
            <a:avLst>
              <a:gd name="adj" fmla="val 33333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4" name="Picture 7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14937" y="5483941"/>
            <a:ext cx="171445" cy="138266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762580" y="5457825"/>
            <a:ext cx="159063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"Save Adjustment"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703879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Stock Transfers &amp; Freshness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53396" y="247649"/>
            <a:ext cx="1371565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53396" y="247649"/>
            <a:ext cx="137156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6.4 - 6.5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5124321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520121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2287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90575" y="1404937"/>
            <a:ext cx="228594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28714" y="1352549"/>
            <a:ext cx="14763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Stock Transfers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1250" y="1409699"/>
            <a:ext cx="99057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Between locations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5327" y="19145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1050" y="1952624"/>
            <a:ext cx="4762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169" y="1895474"/>
            <a:ext cx="259073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Inventory → Stock Transfers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327" y="22574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1525" y="2295525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169" y="2238375"/>
            <a:ext cx="135251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"New Transfer"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327" y="26003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1525" y="2638425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9169" y="2581275"/>
            <a:ext cx="1419189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source location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327" y="29432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525" y="2981325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9169" y="2924175"/>
            <a:ext cx="1704932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destination location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5327" y="32861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1525" y="3324225"/>
            <a:ext cx="6667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9169" y="3267075"/>
            <a:ext cx="213354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products &amp; enter quantities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5327" y="36290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1525" y="3667124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9169" y="3609975"/>
            <a:ext cx="149538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"Create Transfer"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5327" y="39719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4042219"/>
            <a:ext cx="133346" cy="88011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219169" y="3952874"/>
            <a:ext cx="2247843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Receiving location </a:t>
            </a:r>
            <a:r>
              <a:rPr sz="837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confirms receipt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5327" y="4552949"/>
            <a:ext cx="4705232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09624" y="4716235"/>
            <a:ext cx="152396" cy="13062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238219" y="4705350"/>
            <a:ext cx="306697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Track stock movements between multiple store locations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81550" y="1038224"/>
            <a:ext cx="5543411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 Same Side Corner Rectangle 38"/>
          <p:cNvSpPr/>
          <p:nvPr/>
        </p:nvSpPr>
        <p:spPr>
          <a:xfrm rot="16200000">
            <a:off x="3499653" y="3520121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10144" y="12287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05392" y="1379220"/>
            <a:ext cx="228594" cy="1943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743531" y="1352549"/>
            <a:ext cx="26383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Freshness &amp; Expiry Tracking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0144" y="1895474"/>
            <a:ext cx="5124321" cy="495299"/>
          </a:xfrm>
          <a:prstGeom prst="roundRect">
            <a:avLst>
              <a:gd name="adj" fmla="val 30769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324441" y="2068461"/>
            <a:ext cx="171445" cy="14932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572085" y="2047874"/>
            <a:ext cx="257168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Set expiry dates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for each batch received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210144" y="2618453"/>
            <a:ext cx="171445" cy="116143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457788" y="2581275"/>
            <a:ext cx="17620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Color-Coded Alert System: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0144" y="2886075"/>
            <a:ext cx="2524061" cy="380999"/>
          </a:xfrm>
          <a:prstGeom prst="roundRect">
            <a:avLst>
              <a:gd name="adj" fmla="val 40000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305392" y="3019424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5887" y="2981325"/>
            <a:ext cx="39051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Green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72245" y="3000375"/>
            <a:ext cx="4571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&gt; 7 days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10404" y="2886075"/>
            <a:ext cx="2524061" cy="380999"/>
          </a:xfrm>
          <a:prstGeom prst="roundRect">
            <a:avLst>
              <a:gd name="adj" fmla="val 40000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905652" y="3019424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96147" y="2981325"/>
            <a:ext cx="42861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Yellow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62980" y="3000375"/>
            <a:ext cx="47623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3-7 days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10144" y="3343275"/>
            <a:ext cx="2524061" cy="380999"/>
          </a:xfrm>
          <a:prstGeom prst="roundRect">
            <a:avLst>
              <a:gd name="adj" fmla="val 40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305392" y="3476624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95887" y="3438525"/>
            <a:ext cx="4762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Orange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81770" y="3457575"/>
            <a:ext cx="4571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1-3 days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810404" y="3343275"/>
            <a:ext cx="2524061" cy="380999"/>
          </a:xfrm>
          <a:prstGeom prst="roundRect">
            <a:avLst>
              <a:gd name="adj" fmla="val 40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905652" y="3476624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96147" y="3438525"/>
            <a:ext cx="2476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29654" y="3457575"/>
            <a:ext cx="40956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Expired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10144" y="3838574"/>
            <a:ext cx="5124321" cy="476249"/>
          </a:xfrm>
          <a:prstGeom prst="roundRect">
            <a:avLst>
              <a:gd name="adj" fmla="val 32000"/>
            </a:avLst>
          </a:prstGeom>
          <a:gradFill rotWithShape="1">
            <a:gsLst>
              <a:gs pos="0">
                <a:srgbClr val="FEF2F2"/>
              </a:gs>
              <a:gs pos="100000">
                <a:srgbClr val="EFF6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324441" y="4020910"/>
            <a:ext cx="152396" cy="130628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553036" y="3952874"/>
            <a:ext cx="413374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System notifications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sent at 7 days, 3 days, day of expiry, and when expired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812462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Temperature Monitoring &amp; Expired Products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2920" y="247649"/>
            <a:ext cx="1362040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2920" y="247649"/>
            <a:ext cx="136204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6.5 - 6.6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90575" y="1341120"/>
            <a:ext cx="228594" cy="1943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28714" y="1314450"/>
            <a:ext cx="22573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Temperature Monitoring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8383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327" y="18383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119" y="1819275"/>
            <a:ext cx="1924001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Temperature Logs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27" y="21621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5327" y="216217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0119" y="2143125"/>
            <a:ext cx="219069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"New Temperature Reading"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327" y="24860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5327" y="24860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0119" y="2466975"/>
            <a:ext cx="1447763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storage location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5327" y="28098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5327" y="28098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0119" y="2790824"/>
            <a:ext cx="1647783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temperature reading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5327" y="31337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3204019"/>
            <a:ext cx="133346" cy="8801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00119" y="3114675"/>
            <a:ext cx="800079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"Save"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3563710"/>
            <a:ext cx="152396" cy="1306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04872" y="3533774"/>
            <a:ext cx="167635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Safe Temperature Ranges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5327" y="3819524"/>
            <a:ext cx="4914777" cy="361950"/>
          </a:xfrm>
          <a:prstGeom prst="roundRect">
            <a:avLst>
              <a:gd name="adj" fmla="val 42105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1050" y="3905249"/>
            <a:ext cx="41908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Chiller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24341" y="3905249"/>
            <a:ext cx="4000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0-4°C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5327" y="4238624"/>
            <a:ext cx="4914777" cy="361950"/>
          </a:xfrm>
          <a:prstGeom prst="roundRect">
            <a:avLst>
              <a:gd name="adj" fmla="val 42105"/>
            </a:avLst>
          </a:prstGeom>
          <a:solidFill>
            <a:srgbClr val="DBEAFE"/>
          </a:solidFill>
          <a:ln w="8255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1050" y="4324349"/>
            <a:ext cx="4857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Freezer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71905" y="4324349"/>
            <a:ext cx="9524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-18°C or below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5327" y="4657725"/>
            <a:ext cx="4914777" cy="361950"/>
          </a:xfrm>
          <a:prstGeom prst="roundRect">
            <a:avLst>
              <a:gd name="adj" fmla="val 42105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1050" y="4743450"/>
            <a:ext cx="102867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Display Counter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24341" y="4743450"/>
            <a:ext cx="4000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0-4°C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5327" y="5133975"/>
            <a:ext cx="4914777" cy="41910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90575" y="5280932"/>
            <a:ext cx="152396" cy="12518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219169" y="5267324"/>
            <a:ext cx="28574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Alerts sent to manager if </a:t>
            </a:r>
            <a:r>
              <a:rPr sz="71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temperature breach occurs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91095" y="1000125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3709198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19689" y="11906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14937" y="1339691"/>
            <a:ext cx="228594" cy="19716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953076" y="1314450"/>
            <a:ext cx="24669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Handling Expired Products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19689" y="18383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9689" y="18383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4481" y="1819275"/>
            <a:ext cx="185732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Navigate to </a:t>
            </a:r>
            <a:r>
              <a:rPr sz="83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Expired Products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19689" y="21621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19689" y="216217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4481" y="2143125"/>
            <a:ext cx="171445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Review list of expired items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19689" y="24860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19689" y="24860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24481" y="2466975"/>
            <a:ext cx="819129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Select action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19689" y="2867025"/>
            <a:ext cx="4914777" cy="1771650"/>
          </a:xfrm>
          <a:prstGeom prst="roundRect">
            <a:avLst>
              <a:gd name="adj" fmla="val 8602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33986" y="2981325"/>
            <a:ext cx="46861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Available Actions: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33986" y="3209925"/>
            <a:ext cx="4686182" cy="40005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19709" y="3350078"/>
            <a:ext cx="152396" cy="119742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848303" y="3314700"/>
            <a:ext cx="16382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Mark as Waste (Disposal)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33986" y="3667124"/>
            <a:ext cx="4686182" cy="40005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8255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619709" y="3801835"/>
            <a:ext cx="152396" cy="13062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6848303" y="3771900"/>
            <a:ext cx="115249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Mark for Discount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33986" y="4124324"/>
            <a:ext cx="4686182" cy="40005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619709" y="4257675"/>
            <a:ext cx="152396" cy="133349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848303" y="4229100"/>
            <a:ext cx="116202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Return to Supplier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19689" y="48101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19689" y="481012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24481" y="4791075"/>
            <a:ext cx="93342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Confirm action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419689" y="51339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467313" y="5204269"/>
            <a:ext cx="133346" cy="88011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6724481" y="5114925"/>
            <a:ext cx="1638259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System updates inventory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819129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Supplier Management - Accessing &amp; Adding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39119" y="247649"/>
            <a:ext cx="1285842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39119" y="247649"/>
            <a:ext cx="128584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7.1 - 7.2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4038499" cy="1714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24477" y="1829434"/>
            <a:ext cx="1714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2287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90575" y="1387792"/>
            <a:ext cx="228594" cy="177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28714" y="1352549"/>
            <a:ext cx="16192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 Suppliers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8764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1050" y="1914525"/>
            <a:ext cx="4762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169" y="1857375"/>
            <a:ext cx="199067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"Suppliers"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in left sidebar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27" y="22193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2289619"/>
            <a:ext cx="133346" cy="8801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19169" y="2200275"/>
            <a:ext cx="1162020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Supplier list opens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33" y="2905124"/>
            <a:ext cx="4038499" cy="3724274"/>
          </a:xfrm>
          <a:prstGeom prst="roundRect">
            <a:avLst>
              <a:gd name="adj" fmla="val 61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-1129364" y="4701221"/>
            <a:ext cx="37242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5327" y="30956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90575" y="3260407"/>
            <a:ext cx="228594" cy="16573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28714" y="3219449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 New Supplier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27" y="37433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1050" y="3781424"/>
            <a:ext cx="4762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9169" y="3724274"/>
            <a:ext cx="1628734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"Add New Supplier"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5327" y="40862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1525" y="4124324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9169" y="4067174"/>
            <a:ext cx="1323941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Enter supplier details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5327" y="44291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1525" y="4467224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9169" y="4410074"/>
            <a:ext cx="217164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 products they supply </a:t>
            </a: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(optional)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5327" y="47720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42951" y="4832985"/>
            <a:ext cx="133346" cy="10668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219169" y="4752974"/>
            <a:ext cx="137156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"Save Supplier"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33826" y="1038224"/>
            <a:ext cx="6591135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124321" y="1322070"/>
            <a:ext cx="228594" cy="19430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429114" y="1285875"/>
            <a:ext cx="14668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Supplier Details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124321" y="1724024"/>
            <a:ext cx="3047923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219569" y="1873703"/>
            <a:ext cx="152396" cy="11974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448163" y="1838324"/>
            <a:ext cx="94295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Supplier Name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24321" y="2238375"/>
            <a:ext cx="3047923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219569" y="2390774"/>
            <a:ext cx="152396" cy="1143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448163" y="2352675"/>
            <a:ext cx="10000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Contact Person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124321" y="2752725"/>
            <a:ext cx="3047923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219569" y="2902403"/>
            <a:ext cx="152396" cy="11974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448163" y="2867025"/>
            <a:ext cx="96200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Phone Number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124321" y="3267075"/>
            <a:ext cx="3047923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219569" y="3419474"/>
            <a:ext cx="152396" cy="1143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5448163" y="3381375"/>
            <a:ext cx="9143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Email Address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24321" y="3781424"/>
            <a:ext cx="3047923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219569" y="3925660"/>
            <a:ext cx="152396" cy="13062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448163" y="3895724"/>
            <a:ext cx="11143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Physical Address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86542" y="1724024"/>
            <a:ext cx="3047923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381790" y="1873703"/>
            <a:ext cx="152396" cy="119742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8610384" y="1838324"/>
            <a:ext cx="10000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Payment Terms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286542" y="2238375"/>
            <a:ext cx="3047923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8381790" y="2382610"/>
            <a:ext cx="152396" cy="13062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610384" y="2352675"/>
            <a:ext cx="112392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Lead Time (Days)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86542" y="2752725"/>
            <a:ext cx="3047923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8381790" y="2902403"/>
            <a:ext cx="152396" cy="11974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610384" y="2867025"/>
            <a:ext cx="15430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Minimum Order Amount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286542" y="3267075"/>
            <a:ext cx="3047923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EF2F2"/>
              </a:gs>
              <a:gs pos="100000">
                <a:srgbClr val="EFF6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8381790" y="3411310"/>
            <a:ext cx="152396" cy="13062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8610384" y="3381375"/>
            <a:ext cx="118107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Products Supplied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791555" y="3400425"/>
            <a:ext cx="44766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Optional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124321" y="4476750"/>
            <a:ext cx="6210144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16">
            <a:alphaModFix amt="100000"/>
          </a:blip>
          <a:stretch>
            <a:fillRect/>
          </a:stretch>
        </p:blipFill>
        <p:spPr>
          <a:xfrm>
            <a:off x="5238619" y="4640035"/>
            <a:ext cx="152396" cy="13062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467213" y="4629150"/>
            <a:ext cx="490525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Complete supplier profiles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help with purchase order automation and performance tracking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917234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Supplier Management - Managing &amp; 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337" y="247649"/>
            <a:ext cx="1009624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337" y="247649"/>
            <a:ext cx="100962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7.3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38224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520121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2287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90575" y="1390650"/>
            <a:ext cx="228594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28714" y="1352549"/>
            <a:ext cx="18573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Managing Suppliers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9145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327" y="19145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169" y="1895474"/>
            <a:ext cx="159063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View all suppliers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169" y="2105024"/>
            <a:ext cx="159063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Browse complete supplier list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327" y="23907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5327" y="2390774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169" y="2371725"/>
            <a:ext cx="17430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Search by name or 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169" y="2581275"/>
            <a:ext cx="174303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Find specific suppliers quickly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28670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327" y="286702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9169" y="2847974"/>
            <a:ext cx="14763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Edit supplier details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9169" y="3057525"/>
            <a:ext cx="147633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Update contact information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5327" y="33432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5327" y="3343275"/>
            <a:ext cx="2285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9169" y="3324225"/>
            <a:ext cx="17144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View purchase 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9169" y="3533774"/>
            <a:ext cx="171445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Track past orders and spending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5327" y="38195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42951" y="3889819"/>
            <a:ext cx="133346" cy="8801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19169" y="3800475"/>
            <a:ext cx="161920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 notes about supplier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9169" y="4010024"/>
            <a:ext cx="161920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Record important information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5327" y="4514850"/>
            <a:ext cx="4914777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09624" y="4678135"/>
            <a:ext cx="152396" cy="1306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238219" y="4667249"/>
            <a:ext cx="375275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Tip: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Regularly update supplier information to ensure accurate records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1095" y="1038224"/>
            <a:ext cx="5333866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3709198" y="3520121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19689" y="12287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14937" y="1379220"/>
            <a:ext cx="228594" cy="19430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953076" y="1352549"/>
            <a:ext cx="249548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Rate Supplier Performance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689" y="1895474"/>
            <a:ext cx="49147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1040"/>
              </a:spcAft>
            </a:pPr>
            <a:r>
              <a:rPr sz="83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Rate suppliers on three key metrics: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19689" y="2238375"/>
            <a:ext cx="4914777" cy="72390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43511" y="2418120"/>
            <a:ext cx="171445" cy="15485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791155" y="2400300"/>
            <a:ext cx="9143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Quality Rating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181970" y="2417108"/>
            <a:ext cx="190495" cy="156882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391515" y="2417108"/>
            <a:ext cx="190495" cy="156882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601059" y="2417108"/>
            <a:ext cx="190495" cy="156882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810604" y="2417108"/>
            <a:ext cx="190495" cy="156882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1020149" y="2417108"/>
            <a:ext cx="190495" cy="156882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810204" y="2686050"/>
            <a:ext cx="44004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Rate product quality received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19689" y="3076574"/>
            <a:ext cx="4914777" cy="72390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43511" y="3270147"/>
            <a:ext cx="171445" cy="12720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791155" y="3238500"/>
            <a:ext cx="99057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Delivery Rating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181970" y="3255308"/>
            <a:ext cx="190495" cy="156882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391515" y="3255308"/>
            <a:ext cx="190495" cy="156882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601059" y="3255308"/>
            <a:ext cx="190495" cy="156882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810604" y="3255308"/>
            <a:ext cx="190495" cy="156882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1020149" y="3255308"/>
            <a:ext cx="190495" cy="15688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6810204" y="3524250"/>
            <a:ext cx="44004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Rate delivery timeliness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19689" y="3914775"/>
            <a:ext cx="4914777" cy="72390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543511" y="4102816"/>
            <a:ext cx="171445" cy="138266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791155" y="4076699"/>
            <a:ext cx="7810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Price Rating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181970" y="4093508"/>
            <a:ext cx="190495" cy="156882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391515" y="4093508"/>
            <a:ext cx="190495" cy="156882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601059" y="4093508"/>
            <a:ext cx="190495" cy="156882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0810604" y="4093508"/>
            <a:ext cx="190495" cy="156882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1020149" y="4093508"/>
            <a:ext cx="190495" cy="156882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810204" y="4362450"/>
            <a:ext cx="44004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Rate pricing competitiveness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419689" y="4914900"/>
            <a:ext cx="4914777" cy="4572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FEF2F2"/>
              </a:gs>
              <a:gs pos="100000">
                <a:srgbClr val="EFF6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533986" y="5084989"/>
            <a:ext cx="152396" cy="117021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6762580" y="5067299"/>
            <a:ext cx="35622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Use ratings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to identify best-performing suppliers for future orders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704832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Purchase Orders - Creating &amp; Sending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5812" y="247649"/>
            <a:ext cx="1019149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5812" y="247649"/>
            <a:ext cx="101914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7.4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063438"/>
            <a:ext cx="190495" cy="1400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3426" y="1000125"/>
            <a:ext cx="1438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Creating 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1419225"/>
            <a:ext cx="3457488" cy="1476375"/>
          </a:xfrm>
          <a:prstGeom prst="roundRect">
            <a:avLst>
              <a:gd name="adj" fmla="val 1548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-5414" y="2091372"/>
            <a:ext cx="14763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8179" y="155257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2951" y="1590675"/>
            <a:ext cx="571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19" y="1552574"/>
            <a:ext cx="184780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Navigate to Purchase Orders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0119" y="1781174"/>
            <a:ext cx="18478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71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"New Purchase Order"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3009900"/>
            <a:ext cx="3457488" cy="1476375"/>
          </a:xfrm>
          <a:prstGeom prst="roundRect">
            <a:avLst>
              <a:gd name="adj" fmla="val 1548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-5414" y="3682047"/>
            <a:ext cx="14763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8179" y="3143250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26" y="3181350"/>
            <a:ext cx="857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119" y="3143250"/>
            <a:ext cx="149538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Supplier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0119" y="3371850"/>
            <a:ext cx="149538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Choose from supplier 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19" y="3524250"/>
            <a:ext cx="149538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Set </a:t>
            </a:r>
            <a:r>
              <a:rPr sz="71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Expected Delivery Date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6733" y="4600575"/>
            <a:ext cx="3457488" cy="1476375"/>
          </a:xfrm>
          <a:prstGeom prst="roundRect">
            <a:avLst>
              <a:gd name="adj" fmla="val 1548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-5414" y="5272722"/>
            <a:ext cx="14763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8179" y="47339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901" y="4772025"/>
            <a:ext cx="857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0119" y="4733925"/>
            <a:ext cx="154301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 Products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200119" y="5055869"/>
            <a:ext cx="133346" cy="8001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390615" y="5019675"/>
            <a:ext cx="100962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Search for product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200119" y="5284469"/>
            <a:ext cx="133346" cy="8001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90615" y="5248275"/>
            <a:ext cx="135251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Enter quantity &amp; unit cost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200119" y="5513069"/>
            <a:ext cx="133346" cy="8001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390615" y="5476875"/>
            <a:ext cx="67625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Add to order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4717" y="1000125"/>
            <a:ext cx="3457488" cy="2238375"/>
          </a:xfrm>
          <a:prstGeom prst="roundRect">
            <a:avLst>
              <a:gd name="adj" fmla="val 1021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3261570" y="2053272"/>
            <a:ext cx="22383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505212" y="11525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90935" y="1190625"/>
            <a:ext cx="857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67153" y="1152524"/>
            <a:ext cx="275265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Review Order Total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67153" y="1457325"/>
            <a:ext cx="2752656" cy="781050"/>
          </a:xfrm>
          <a:prstGeom prst="roundRect">
            <a:avLst>
              <a:gd name="adj" fmla="val 19512"/>
            </a:avLst>
          </a:prstGeom>
          <a:gradFill rotWithShape="1">
            <a:gsLst>
              <a:gs pos="0">
                <a:srgbClr val="EFF6FF"/>
              </a:gs>
              <a:gs pos="100000">
                <a:srgbClr val="FEF2F2"/>
              </a:gs>
            </a:gsLst>
            <a:lin scaled="0" ang="8100000"/>
          </a:gra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90975" y="1600200"/>
            <a:ext cx="86675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Products Added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19749" y="1581149"/>
            <a:ext cx="4762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5 items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90975" y="1904999"/>
            <a:ext cx="82865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Estimated Total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48283" y="1847849"/>
            <a:ext cx="84770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$1,245.00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867153" y="2370200"/>
            <a:ext cx="133346" cy="117348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057648" y="2352675"/>
            <a:ext cx="120011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Add notes for supplier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14717" y="3390899"/>
            <a:ext cx="3457488" cy="2238375"/>
          </a:xfrm>
          <a:prstGeom prst="roundRect">
            <a:avLst>
              <a:gd name="adj" fmla="val 1021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3261570" y="4444046"/>
            <a:ext cx="223837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505212" y="3543300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00459" y="3581400"/>
            <a:ext cx="857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67153" y="3543300"/>
            <a:ext cx="275265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78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Submit Order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67153" y="3886200"/>
            <a:ext cx="1342991" cy="838200"/>
          </a:xfrm>
          <a:prstGeom prst="roundRect">
            <a:avLst>
              <a:gd name="adj" fmla="val 18181"/>
            </a:avLst>
          </a:prstGeom>
          <a:solidFill>
            <a:srgbClr val="EFF6FF"/>
          </a:solidFill>
          <a:ln w="825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438639" y="4048685"/>
            <a:ext cx="190495" cy="151279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4971925" y="4295774"/>
            <a:ext cx="113344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Save as Draft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71925" y="4467224"/>
            <a:ext cx="113344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Save for later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86342" y="3886200"/>
            <a:ext cx="1342991" cy="838200"/>
          </a:xfrm>
          <a:prstGeom prst="roundRect">
            <a:avLst>
              <a:gd name="adj" fmla="val 18181"/>
            </a:avLst>
          </a:prstGeom>
          <a:solidFill>
            <a:srgbClr val="F0FDF4"/>
          </a:solidFill>
          <a:ln w="825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857828" y="4048685"/>
            <a:ext cx="190495" cy="15127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381590" y="4295774"/>
            <a:ext cx="113344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Send to Supplier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81590" y="4467224"/>
            <a:ext cx="113344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Submit order now</a:t>
            </a:r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962700" y="1052232"/>
            <a:ext cx="190495" cy="162485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8229394" y="1000125"/>
            <a:ext cx="11905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Order Preview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962700" y="1343025"/>
            <a:ext cx="3562260" cy="5095874"/>
          </a:xfrm>
          <a:prstGeom prst="roundRect">
            <a:avLst>
              <a:gd name="adj" fmla="val 6417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115097" y="1533525"/>
            <a:ext cx="3257468" cy="628650"/>
          </a:xfrm>
          <a:prstGeom prst="roundRect">
            <a:avLst>
              <a:gd name="adj" fmla="val 24242"/>
            </a:avLst>
          </a:prstGeom>
          <a:gradFill rotWithShape="1">
            <a:gsLst>
              <a:gs pos="0">
                <a:srgbClr val="FEF2F2"/>
              </a:gs>
              <a:gs pos="100000">
                <a:srgbClr val="EFF6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394" y="1666874"/>
            <a:ext cx="6381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PO Number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01019" y="1647825"/>
            <a:ext cx="10572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#PO-2024-0156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29394" y="1895474"/>
            <a:ext cx="74293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Delivery Date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43911" y="1895474"/>
            <a:ext cx="71435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Jan 25, 2024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115097" y="2276474"/>
            <a:ext cx="3257468" cy="323849"/>
          </a:xfrm>
          <a:prstGeom prst="roundRect">
            <a:avLst>
              <a:gd name="adj" fmla="val 47058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00819" y="2362199"/>
            <a:ext cx="7334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T-Bone Steak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77238" y="2362199"/>
            <a:ext cx="80960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50 kg @ $8.50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115097" y="2657475"/>
            <a:ext cx="3257468" cy="323849"/>
          </a:xfrm>
          <a:prstGeom prst="roundRect">
            <a:avLst>
              <a:gd name="adj" fmla="val 47058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00819" y="2743200"/>
            <a:ext cx="6857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Ground Beef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477238" y="2743200"/>
            <a:ext cx="80960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30 kg @ $6.00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115097" y="3038475"/>
            <a:ext cx="3257468" cy="323849"/>
          </a:xfrm>
          <a:prstGeom prst="roundRect">
            <a:avLst>
              <a:gd name="adj" fmla="val 47058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 w="8255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00819" y="3124200"/>
            <a:ext cx="62863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Pork Chops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05812" y="3124200"/>
            <a:ext cx="78103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25 kg @ $7.50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15097" y="3600450"/>
            <a:ext cx="4571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Subtotal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820129" y="3581400"/>
            <a:ext cx="55243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$850.00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15097" y="3809999"/>
            <a:ext cx="6381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Tax (14.5%)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943951" y="3809999"/>
            <a:ext cx="42861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$123.25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115097" y="4076699"/>
            <a:ext cx="3257468" cy="495299"/>
          </a:xfrm>
          <a:prstGeom prst="roundRect">
            <a:avLst>
              <a:gd name="adj" fmla="val 30769"/>
            </a:avLst>
          </a:prstGeom>
          <a:gradFill rotWithShape="1">
            <a:gsLst>
              <a:gs pos="0">
                <a:srgbClr val="FEF2F2"/>
              </a:gs>
              <a:gs pos="100000">
                <a:srgbClr val="EFF6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29394" y="4229100"/>
            <a:ext cx="3238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Total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486762" y="4190999"/>
            <a:ext cx="7715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$973.25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115097" y="4686300"/>
            <a:ext cx="3257468" cy="38099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4" name="Picture 8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210344" y="4818125"/>
            <a:ext cx="133346" cy="117348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8400839" y="4800600"/>
            <a:ext cx="196210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Order will be sent to supplier's email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5038724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31481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Purchase Orders - Receiving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05812" y="247649"/>
            <a:ext cx="1019149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5812" y="247649"/>
            <a:ext cx="101914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7.4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052232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3426" y="1000125"/>
            <a:ext cx="15430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Receiving Process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1419225"/>
            <a:ext cx="3667033" cy="1238249"/>
          </a:xfrm>
          <a:prstGeom prst="roundRect">
            <a:avLst>
              <a:gd name="adj" fmla="val 1846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113649" y="1972309"/>
            <a:ext cx="12382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9129" y="153352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901" y="1571625"/>
            <a:ext cx="571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1070" y="1533525"/>
            <a:ext cx="198115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Navigate to Pending Receipt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1070" y="1762125"/>
            <a:ext cx="198115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Purchase Orders</a:t>
            </a: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 → Pending Receipt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2771775"/>
            <a:ext cx="3667033" cy="1238249"/>
          </a:xfrm>
          <a:prstGeom prst="roundRect">
            <a:avLst>
              <a:gd name="adj" fmla="val 1846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113649" y="3324859"/>
            <a:ext cx="12382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9129" y="288607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377" y="2924175"/>
            <a:ext cx="857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1070" y="2886075"/>
            <a:ext cx="150491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Order to Receive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1070" y="3114675"/>
            <a:ext cx="150491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Click on order from list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4124324"/>
            <a:ext cx="3667033" cy="1238249"/>
          </a:xfrm>
          <a:prstGeom prst="roundRect">
            <a:avLst>
              <a:gd name="adj" fmla="val 1846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113649" y="4677408"/>
            <a:ext cx="12382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9129" y="42386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4852" y="4276725"/>
            <a:ext cx="857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1070" y="4238624"/>
            <a:ext cx="126679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Receive Order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1070" y="4467224"/>
            <a:ext cx="126679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Opens receiving form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6733" y="5476875"/>
            <a:ext cx="3667033" cy="1238249"/>
          </a:xfrm>
          <a:prstGeom prst="roundRect">
            <a:avLst>
              <a:gd name="adj" fmla="val 1846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113649" y="6029959"/>
            <a:ext cx="12382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9129" y="559117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4852" y="5629275"/>
            <a:ext cx="857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1070" y="5591175"/>
            <a:ext cx="165730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Enter Received Quantities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1070" y="5819775"/>
            <a:ext cx="165730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May differ from ordered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24261" y="1000125"/>
            <a:ext cx="3143171" cy="157162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3804489" y="1719897"/>
            <a:ext cx="1571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14757" y="1152524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10004" y="1190625"/>
            <a:ext cx="857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6698" y="1152524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Enter Batch Information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076698" y="1461135"/>
            <a:ext cx="133346" cy="10668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267193" y="1438274"/>
            <a:ext cx="81912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Batch numbers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076698" y="1703451"/>
            <a:ext cx="133346" cy="11734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5267193" y="1685925"/>
            <a:ext cx="66673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Expiry dates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24261" y="2724150"/>
            <a:ext cx="3143171" cy="157162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 rot="16200000">
            <a:off x="3804489" y="3443922"/>
            <a:ext cx="1571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714757" y="2876549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00479" y="2914650"/>
            <a:ext cx="857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76698" y="2876549"/>
            <a:ext cx="24383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 Receiving Notes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76698" y="3143250"/>
            <a:ext cx="2438339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Document any issues or observations about delivery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24261" y="4448175"/>
            <a:ext cx="3143171" cy="157162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 rot="16200000">
            <a:off x="3804489" y="5167947"/>
            <a:ext cx="15716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714757" y="4600575"/>
            <a:ext cx="266693" cy="266699"/>
          </a:xfrm>
          <a:prstGeom prst="roundRect">
            <a:avLst>
              <a:gd name="adj" fmla="val 71421428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10004" y="4638674"/>
            <a:ext cx="761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76698" y="4600575"/>
            <a:ext cx="197162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Complete Receipt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076698" y="4903851"/>
            <a:ext cx="133346" cy="11734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267193" y="4886325"/>
            <a:ext cx="178113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5803D"/>
                </a:solidFill>
                <a:latin typeface="Inter"/>
                <a:rFonts ascii="Inter" hAnsi="Inter" eastAsia="Inter" cs="Inter"/>
              </a:rPr>
              <a:t>Inventory updated automatically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57928" y="1057835"/>
            <a:ext cx="190495" cy="15127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124621" y="1000125"/>
            <a:ext cx="16763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Receiving Summary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857928" y="1343025"/>
            <a:ext cx="3667033" cy="5095874"/>
          </a:xfrm>
          <a:prstGeom prst="roundRect">
            <a:avLst>
              <a:gd name="adj" fmla="val 6233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010324" y="1533525"/>
            <a:ext cx="3362240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EF2F2"/>
              </a:gs>
              <a:gs pos="100000">
                <a:srgbClr val="EFF6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124621" y="1647825"/>
            <a:ext cx="8572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PO #2024-0156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15357" y="1647825"/>
            <a:ext cx="54291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Receiving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24621" y="1838324"/>
            <a:ext cx="313364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ABC Meat Suppliers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10324" y="2219324"/>
            <a:ext cx="336224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Items Being Received: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10324" y="2447924"/>
            <a:ext cx="3362240" cy="495299"/>
          </a:xfrm>
          <a:prstGeom prst="roundRect">
            <a:avLst>
              <a:gd name="adj" fmla="val 30769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86522" y="2524125"/>
            <a:ext cx="74293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T-Bone Steak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486762" y="2524125"/>
            <a:ext cx="80960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Ordered: 50 kg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86522" y="2714625"/>
            <a:ext cx="108582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DC2626"/>
                </a:solidFill>
                <a:latin typeface="Inter"/>
                <a:rFonts ascii="Inter" hAnsi="Inter" eastAsia="Inter" cs="Inter"/>
              </a:rPr>
              <a:t>Batch: BT-2024-001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01039" y="2714625"/>
            <a:ext cx="89532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Received: 48 kg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010324" y="3019424"/>
            <a:ext cx="3362240" cy="495299"/>
          </a:xfrm>
          <a:prstGeom prst="roundRect">
            <a:avLst>
              <a:gd name="adj" fmla="val 30769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086522" y="3095625"/>
            <a:ext cx="69530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Ground Beef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486762" y="3095625"/>
            <a:ext cx="80960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Ordered: 30 kg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86522" y="3286125"/>
            <a:ext cx="113344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DC2626"/>
                </a:solidFill>
                <a:latin typeface="Inter"/>
                <a:rFonts ascii="Inter" hAnsi="Inter" eastAsia="Inter" cs="Inter"/>
              </a:rPr>
              <a:t>Batch: BG-2024-005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401039" y="3286125"/>
            <a:ext cx="89532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Received: 30 kg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010324" y="3629025"/>
            <a:ext cx="3362240" cy="419100"/>
          </a:xfrm>
          <a:prstGeom prst="roundRect">
            <a:avLst>
              <a:gd name="adj" fmla="val 36363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5" name="Picture 7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105572" y="3771900"/>
            <a:ext cx="152396" cy="133349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8315117" y="3762374"/>
            <a:ext cx="113344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Expiry: </a:t>
            </a: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Feb 28, 2024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010324" y="4162424"/>
            <a:ext cx="3362240" cy="419100"/>
          </a:xfrm>
          <a:prstGeom prst="roundRect">
            <a:avLst>
              <a:gd name="adj" fmla="val 36363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010324" y="4657725"/>
            <a:ext cx="3362240" cy="380999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105572" y="4789550"/>
            <a:ext cx="133346" cy="11734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8296067" y="4772025"/>
            <a:ext cx="230499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System will update inventory automatically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0" y="6867524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780077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Customer Management - Accessing &amp; 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91495" y="247649"/>
            <a:ext cx="1333466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91495" y="247649"/>
            <a:ext cx="13334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8.1 - 8.2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200319" cy="1714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24477" y="1791335"/>
            <a:ext cx="1714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90575" y="1349692"/>
            <a:ext cx="228594" cy="1771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28714" y="1314450"/>
            <a:ext cx="17525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Access Customers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8383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1050" y="1876424"/>
            <a:ext cx="4762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169" y="1819275"/>
            <a:ext cx="2085922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Click </a:t>
            </a: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"Customers"</a:t>
            </a: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in left sidebar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5327" y="21812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52476" y="2257857"/>
            <a:ext cx="114297" cy="7533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19169" y="2162174"/>
            <a:ext cx="125726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Customer list opens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33" y="2867025"/>
            <a:ext cx="3200319" cy="3762374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-1148414" y="4682172"/>
            <a:ext cx="37623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5327" y="3116636"/>
            <a:ext cx="190495" cy="14847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62020" y="3057525"/>
            <a:ext cx="128584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Search Options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5327" y="3438525"/>
            <a:ext cx="2781230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90575" y="3590924"/>
            <a:ext cx="152396" cy="1143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19169" y="3552825"/>
            <a:ext cx="104772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Search by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Name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5327" y="3933824"/>
            <a:ext cx="2781230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90575" y="4083503"/>
            <a:ext cx="152396" cy="11974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19169" y="4048124"/>
            <a:ext cx="10762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Search by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Phone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5327" y="4429125"/>
            <a:ext cx="2781230" cy="419100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90575" y="4581524"/>
            <a:ext cx="152396" cy="1143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19169" y="4543425"/>
            <a:ext cx="101914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Search by </a:t>
            </a: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Email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057548" y="1000125"/>
            <a:ext cx="7467413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248043" y="1318260"/>
            <a:ext cx="228594" cy="12572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552836" y="1247775"/>
            <a:ext cx="129536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Customer List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343891" y="1228725"/>
            <a:ext cx="990575" cy="3048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248043" y="1685925"/>
            <a:ext cx="3486062" cy="704849"/>
          </a:xfrm>
          <a:prstGeom prst="roundRect">
            <a:avLst>
              <a:gd name="adj" fmla="val 21621"/>
            </a:avLst>
          </a:prstGeom>
          <a:solidFill>
            <a:srgbClr val="F9FAFB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71865" y="1809749"/>
            <a:ext cx="323841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Filter by Customer Type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71865" y="2038349"/>
            <a:ext cx="495287" cy="228600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71865" y="2038349"/>
            <a:ext cx="49528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Retail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24301" y="2038349"/>
            <a:ext cx="771505" cy="228600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24301" y="2038349"/>
            <a:ext cx="7715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66534"/>
                </a:solidFill>
                <a:latin typeface="Inter"/>
                <a:rFonts ascii="Inter" hAnsi="Inter" eastAsia="Inter" cs="Inter"/>
              </a:rPr>
              <a:t>Wholesale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52956" y="2038349"/>
            <a:ext cx="781030" cy="228600"/>
          </a:xfrm>
          <a:prstGeom prst="roundRect">
            <a:avLst>
              <a:gd name="adj" fmla="val 33333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52956" y="2038349"/>
            <a:ext cx="78103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6B21A8"/>
                </a:solidFill>
                <a:latin typeface="Inter"/>
                <a:rFonts ascii="Inter" hAnsi="Inter" eastAsia="Inter" cs="Inter"/>
              </a:rPr>
              <a:t>Contractor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48403" y="1685925"/>
            <a:ext cx="3486062" cy="704849"/>
          </a:xfrm>
          <a:prstGeom prst="roundRect">
            <a:avLst>
              <a:gd name="adj" fmla="val 21621"/>
            </a:avLst>
          </a:prstGeom>
          <a:solidFill>
            <a:srgbClr val="F9FAFB"/>
          </a:solidFill>
          <a:ln w="825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72225" y="1809749"/>
            <a:ext cx="323841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Filter by Loyalty Tier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72225" y="2038349"/>
            <a:ext cx="581010" cy="228600"/>
          </a:xfrm>
          <a:prstGeom prst="roundRect">
            <a:avLst>
              <a:gd name="adj" fmla="val 33333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2225" y="2038349"/>
            <a:ext cx="5810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92400E"/>
                </a:solidFill>
                <a:latin typeface="Inter"/>
                <a:rFonts ascii="Inter" hAnsi="Inter" eastAsia="Inter" cs="Inter"/>
              </a:rPr>
              <a:t>Bronze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10384" y="2038349"/>
            <a:ext cx="504812" cy="228600"/>
          </a:xfrm>
          <a:prstGeom prst="roundRect">
            <a:avLst>
              <a:gd name="adj" fmla="val 33333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10384" y="2038349"/>
            <a:ext cx="5048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Silver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72345" y="2038349"/>
            <a:ext cx="447663" cy="228600"/>
          </a:xfrm>
          <a:prstGeom prst="roundRect">
            <a:avLst>
              <a:gd name="adj" fmla="val 33333"/>
            </a:avLst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72345" y="2038349"/>
            <a:ext cx="4476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854D0E"/>
                </a:solidFill>
                <a:latin typeface="Inter"/>
                <a:rFonts ascii="Inter" hAnsi="Inter" eastAsia="Inter" cs="Inter"/>
              </a:rPr>
              <a:t>Gold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248043" y="2543175"/>
            <a:ext cx="7086422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EFF6FF"/>
              </a:gs>
              <a:gs pos="100000">
                <a:srgbClr val="FEF2F2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 Same Side Corner Rectangle 52"/>
          <p:cNvSpPr/>
          <p:nvPr/>
        </p:nvSpPr>
        <p:spPr>
          <a:xfrm rot="16200000">
            <a:off x="4028333" y="2762885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400439" y="2676524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48063" y="2733674"/>
            <a:ext cx="2000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JM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19529" y="2657475"/>
            <a:ext cx="97152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John Moyo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19529" y="2847974"/>
            <a:ext cx="97152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+263 77 123 4567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53176" y="2657475"/>
            <a:ext cx="69530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Total Spent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3176" y="2809875"/>
            <a:ext cx="69530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$2,450.00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810604" y="2733674"/>
            <a:ext cx="409564" cy="190499"/>
          </a:xfrm>
          <a:prstGeom prst="roundRect">
            <a:avLst>
              <a:gd name="adj" fmla="val 40000"/>
            </a:avLst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810604" y="2733674"/>
            <a:ext cx="4095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854D0E"/>
                </a:solidFill>
                <a:latin typeface="Inter"/>
                <a:rFonts ascii="Inter" hAnsi="Inter" eastAsia="Inter" cs="Inter"/>
              </a:rPr>
              <a:t>Gold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248043" y="3190874"/>
            <a:ext cx="7086422" cy="571500"/>
          </a:xfrm>
          <a:prstGeom prst="roundRect">
            <a:avLst>
              <a:gd name="adj" fmla="val 26666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 Same Side Corner Rectangle 62"/>
          <p:cNvSpPr/>
          <p:nvPr/>
        </p:nvSpPr>
        <p:spPr>
          <a:xfrm rot="16200000">
            <a:off x="4028333" y="3410584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400439" y="33242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448063" y="3381375"/>
            <a:ext cx="20954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SM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19529" y="3305174"/>
            <a:ext cx="10096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Sarah Mutsinze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819529" y="3495675"/>
            <a:ext cx="100962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+263 71 987 6543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962700" y="3305174"/>
            <a:ext cx="66673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Total Spent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962700" y="3457575"/>
            <a:ext cx="6667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$1,200.00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753456" y="3381375"/>
            <a:ext cx="466713" cy="190499"/>
          </a:xfrm>
          <a:prstGeom prst="roundRect">
            <a:avLst>
              <a:gd name="adj" fmla="val 4000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753456" y="3381375"/>
            <a:ext cx="46671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Silver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248043" y="3838574"/>
            <a:ext cx="7086422" cy="571500"/>
          </a:xfrm>
          <a:prstGeom prst="roundRect">
            <a:avLst>
              <a:gd name="adj" fmla="val 26666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 Same Side Corner Rectangle 72"/>
          <p:cNvSpPr/>
          <p:nvPr/>
        </p:nvSpPr>
        <p:spPr>
          <a:xfrm rot="16200000">
            <a:off x="4028333" y="4058284"/>
            <a:ext cx="5715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400439" y="3971925"/>
            <a:ext cx="304792" cy="304800"/>
          </a:xfrm>
          <a:prstGeom prst="roundRect">
            <a:avLst>
              <a:gd name="adj" fmla="val 6249375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57588" y="4029075"/>
            <a:ext cx="18097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TC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19529" y="3952874"/>
            <a:ext cx="129536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Tafara Construction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819529" y="4143375"/>
            <a:ext cx="129536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+263 86 123 4567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934126" y="3952874"/>
            <a:ext cx="74293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Total Spent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934126" y="4105274"/>
            <a:ext cx="7429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$15,680.00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486762" y="4029075"/>
            <a:ext cx="733406" cy="190499"/>
          </a:xfrm>
          <a:prstGeom prst="roundRect">
            <a:avLst>
              <a:gd name="adj" fmla="val 4000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486762" y="4029075"/>
            <a:ext cx="7334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6B21A8"/>
                </a:solidFill>
                <a:latin typeface="Inter"/>
                <a:rFonts ascii="Inter" hAnsi="Inter" eastAsia="Inter" cs="Inter"/>
              </a:rPr>
              <a:t>Wholesale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699117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Adding Customers &amp; Profile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53396" y="247649"/>
            <a:ext cx="1371565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53396" y="247649"/>
            <a:ext cx="137156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8.3 - 8.4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4057548" cy="5095874"/>
          </a:xfrm>
          <a:prstGeom prst="roundRect">
            <a:avLst>
              <a:gd name="adj" fmla="val 56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90575" y="1355407"/>
            <a:ext cx="228594" cy="1657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28714" y="1314450"/>
            <a:ext cx="18001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 New Customer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8764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1050" y="1914525"/>
            <a:ext cx="4762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169" y="1857375"/>
            <a:ext cx="14572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Enter Basic Details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219169" y="2149602"/>
            <a:ext cx="133346" cy="10134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09664" y="2124075"/>
            <a:ext cx="126679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Name &amp; Phone Number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219169" y="2378202"/>
            <a:ext cx="133346" cy="10134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09664" y="2352675"/>
            <a:ext cx="87627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Email &amp; Address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5327" y="26574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1525" y="2695575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9169" y="2638425"/>
            <a:ext cx="205734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Customer Type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19169" y="2886075"/>
            <a:ext cx="457188" cy="190499"/>
          </a:xfrm>
          <a:prstGeom prst="roundRect">
            <a:avLst>
              <a:gd name="adj" fmla="val 4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19169" y="2886075"/>
            <a:ext cx="4571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Retail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733506" y="2886075"/>
            <a:ext cx="733406" cy="190499"/>
          </a:xfrm>
          <a:prstGeom prst="roundRect">
            <a:avLst>
              <a:gd name="adj" fmla="val 4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3506" y="2886075"/>
            <a:ext cx="7334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66534"/>
                </a:solidFill>
                <a:latin typeface="Inter"/>
                <a:rFonts ascii="Inter" hAnsi="Inter" eastAsia="Inter" cs="Inter"/>
              </a:rPr>
              <a:t>Wholesale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24061" y="2886075"/>
            <a:ext cx="742931" cy="190499"/>
          </a:xfrm>
          <a:prstGeom prst="roundRect">
            <a:avLst>
              <a:gd name="adj" fmla="val 4000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24061" y="2886075"/>
            <a:ext cx="7429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6B21A8"/>
                </a:solidFill>
                <a:latin typeface="Inter"/>
                <a:rFonts ascii="Inter" hAnsi="Inter" eastAsia="Inter" cs="Inter"/>
              </a:rPr>
              <a:t>Contractor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5327" y="32099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1525" y="3248024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9169" y="3190874"/>
            <a:ext cx="16096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Set Credit Terms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9169" y="3419474"/>
            <a:ext cx="160968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For wholesale/contractor only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219169" y="3670934"/>
            <a:ext cx="133346" cy="10668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409664" y="3648074"/>
            <a:ext cx="61910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Credit Limit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219169" y="3894200"/>
            <a:ext cx="133346" cy="11734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409664" y="3876674"/>
            <a:ext cx="83817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Payment Terms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5327" y="41814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52476" y="4258107"/>
            <a:ext cx="114297" cy="7533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219169" y="4162424"/>
            <a:ext cx="15620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Save Customer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9169" y="4391025"/>
            <a:ext cx="15620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Customer added to database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14777" y="1000125"/>
            <a:ext cx="6610184" cy="5095874"/>
          </a:xfrm>
          <a:prstGeom prst="roundRect">
            <a:avLst>
              <a:gd name="adj" fmla="val 4485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105272" y="1280832"/>
            <a:ext cx="190495" cy="16248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371965" y="1228725"/>
            <a:ext cx="154301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Profile Overview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401039" y="1247775"/>
            <a:ext cx="933426" cy="228600"/>
          </a:xfrm>
          <a:prstGeom prst="roundRect">
            <a:avLst>
              <a:gd name="adj" fmla="val 33333"/>
            </a:avLst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01039" y="1247775"/>
            <a:ext cx="93342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854D0E"/>
                </a:solidFill>
                <a:latin typeface="Inter"/>
                <a:rFonts ascii="Inter" hAnsi="Inter" eastAsia="Inter" cs="Inter"/>
              </a:rPr>
              <a:t>Gold Member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05272" y="1609724"/>
            <a:ext cx="6229194" cy="6858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EF2F2"/>
              </a:gs>
              <a:gs pos="100000">
                <a:srgbClr val="EFF6FF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219569" y="1724024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14817" y="1819275"/>
            <a:ext cx="2571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JM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91055" y="1762125"/>
            <a:ext cx="20001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John Moyo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91055" y="1990724"/>
            <a:ext cx="20001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+263 77 123 4567 • john@email.com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05272" y="2409825"/>
            <a:ext cx="2000199" cy="6858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19569" y="2524125"/>
            <a:ext cx="177160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Total Purchases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9569" y="2714625"/>
            <a:ext cx="17716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$2,450.00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19769" y="2409825"/>
            <a:ext cx="2000199" cy="6858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34066" y="2524125"/>
            <a:ext cx="177160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Average Purchase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34066" y="2714625"/>
            <a:ext cx="17716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$85.50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334266" y="2409825"/>
            <a:ext cx="2000199" cy="6858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48563" y="2524125"/>
            <a:ext cx="177160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Last Purchase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48563" y="2714625"/>
            <a:ext cx="177160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Jan 15, 2024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105272" y="3209925"/>
            <a:ext cx="6229194" cy="895350"/>
          </a:xfrm>
          <a:prstGeom prst="roundRect">
            <a:avLst>
              <a:gd name="adj" fmla="val 17021"/>
            </a:avLst>
          </a:prstGeom>
          <a:gradFill rotWithShape="1">
            <a:gsLst>
              <a:gs pos="0">
                <a:srgbClr val="FFFBEB"/>
              </a:gs>
              <a:gs pos="100000">
                <a:srgbClr val="FEFCE8"/>
              </a:gs>
            </a:gsLst>
            <a:lin scaled="0" ang="10800000"/>
          </a:gradFill>
          <a:ln w="825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229094" y="3404907"/>
            <a:ext cx="190495" cy="162485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495787" y="3390899"/>
            <a:ext cx="92390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Loyalty Points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34346" y="3333749"/>
            <a:ext cx="107629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B45309"/>
                </a:solidFill>
                <a:latin typeface="Inter"/>
                <a:rFonts ascii="Inter" hAnsi="Inter" eastAsia="Inter" cs="Inter"/>
              </a:rPr>
              <a:t>2,450 pts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229094" y="3714750"/>
            <a:ext cx="5981550" cy="76200"/>
          </a:xfrm>
          <a:prstGeom prst="roundRect">
            <a:avLst>
              <a:gd name="adj" fmla="val 24997500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229094" y="3714750"/>
            <a:ext cx="4486162" cy="76200"/>
          </a:xfrm>
          <a:prstGeom prst="roundRect">
            <a:avLst>
              <a:gd name="adj" fmla="val 24997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29094" y="3829050"/>
            <a:ext cx="598155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550 points to Platinum tier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105272" y="4219575"/>
            <a:ext cx="6229194" cy="571500"/>
          </a:xfrm>
          <a:prstGeom prst="roundRect">
            <a:avLst>
              <a:gd name="adj" fmla="val 26666"/>
            </a:avLst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200519" y="4314825"/>
            <a:ext cx="603869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Contact Information</a:t>
            </a:r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200519" y="4541901"/>
            <a:ext cx="133346" cy="11734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5391015" y="4524374"/>
            <a:ext cx="105724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123 Main St, Harare</a:t>
            </a:r>
          </a:p>
        </p:txBody>
      </p:sp>
      <p:pic>
        <p:nvPicPr>
          <p:cNvPr id="71" name="Picture 70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257968" y="4536567"/>
            <a:ext cx="133346" cy="128016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448463" y="4524374"/>
            <a:ext cx="14382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Customer since: Mar 2023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48523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4952999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626729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Customer Profile - Tabs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86762" y="247649"/>
            <a:ext cx="1038199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86762" y="247649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8.4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981350" cy="5095874"/>
          </a:xfrm>
          <a:prstGeom prst="roundRect">
            <a:avLst>
              <a:gd name="adj" fmla="val 5741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9129" y="11906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95327" y="1318932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38219" y="1200150"/>
            <a:ext cx="1438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Purchase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8219" y="1466849"/>
            <a:ext cx="14382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All transactions &amp; receipts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129" y="1743075"/>
            <a:ext cx="1095347" cy="266699"/>
          </a:xfrm>
          <a:prstGeom prst="roundRect">
            <a:avLst>
              <a:gd name="adj" fmla="val 57142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129" y="1743075"/>
            <a:ext cx="10953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 Filter by Date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14377" y="1812416"/>
            <a:ext cx="133346" cy="12801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819129" y="2124075"/>
            <a:ext cx="3676558" cy="742950"/>
          </a:xfrm>
          <a:prstGeom prst="roundRect">
            <a:avLst>
              <a:gd name="adj" fmla="val 20512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377" y="2219324"/>
            <a:ext cx="70483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Jan 15,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2776" y="2219324"/>
            <a:ext cx="44766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$125.50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377" y="2409825"/>
            <a:ext cx="348606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T-Bone Steak, Ground Beef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4377" y="2654011"/>
            <a:ext cx="114297" cy="8312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6773" y="2619374"/>
            <a:ext cx="70483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View Receipt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885902" y="2651413"/>
            <a:ext cx="114297" cy="8832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038299" y="2619374"/>
            <a:ext cx="42861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Reorder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9129" y="2943225"/>
            <a:ext cx="3676558" cy="742950"/>
          </a:xfrm>
          <a:prstGeom prst="roundRect">
            <a:avLst>
              <a:gd name="adj" fmla="val 20512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377" y="3038475"/>
            <a:ext cx="70483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Jan 10, 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90875" y="3038475"/>
            <a:ext cx="40956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$89.00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377" y="3228975"/>
            <a:ext cx="348606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Pork Chops, Chicken Breast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4377" y="3473161"/>
            <a:ext cx="114297" cy="8312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66773" y="3438525"/>
            <a:ext cx="70483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View Receipt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885902" y="3470563"/>
            <a:ext cx="114297" cy="8832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038299" y="3438525"/>
            <a:ext cx="42861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Reorder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9129" y="3762374"/>
            <a:ext cx="3676558" cy="742950"/>
          </a:xfrm>
          <a:prstGeom prst="roundRect">
            <a:avLst>
              <a:gd name="adj" fmla="val 20512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377" y="3857625"/>
            <a:ext cx="65720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Jan 5, 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43251" y="3857625"/>
            <a:ext cx="4571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$156.20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377" y="4048124"/>
            <a:ext cx="348606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Beef Mince, Lamb Chops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14377" y="4292311"/>
            <a:ext cx="114297" cy="8312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066773" y="4257675"/>
            <a:ext cx="70483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View Receipt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885902" y="4289713"/>
            <a:ext cx="114297" cy="8832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2038299" y="4257675"/>
            <a:ext cx="42861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Reorder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9129" y="4619625"/>
            <a:ext cx="3676558" cy="30480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5327" y="4695824"/>
            <a:ext cx="352416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Total: 28 transactions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• Last 12 months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38579" y="1000125"/>
            <a:ext cx="3247943" cy="2495550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990975" y="119062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067173" y="1324535"/>
            <a:ext cx="190495" cy="15127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410064" y="1200150"/>
            <a:ext cx="12572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Credit Account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10064" y="1466849"/>
            <a:ext cx="125726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Wholesale/Contractor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990975" y="1743075"/>
            <a:ext cx="1438239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67173" y="1819275"/>
            <a:ext cx="12858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Credit Limit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67173" y="2009774"/>
            <a:ext cx="128584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$5,000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5887" y="1743075"/>
            <a:ext cx="1438239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72085" y="1819275"/>
            <a:ext cx="12858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Current Balance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72085" y="2009774"/>
            <a:ext cx="128584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$1,250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990975" y="2390774"/>
            <a:ext cx="1438239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67173" y="2466975"/>
            <a:ext cx="12858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Available Credit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67173" y="2657475"/>
            <a:ext cx="128584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6A34A"/>
                </a:solidFill>
                <a:latin typeface="Inter"/>
                <a:rFonts ascii="Inter" hAnsi="Inter" eastAsia="Inter" cs="Inter"/>
              </a:rPr>
              <a:t>$3,750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95887" y="2390774"/>
            <a:ext cx="1438239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72085" y="2466975"/>
            <a:ext cx="128584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26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Due Date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72085" y="2657475"/>
            <a:ext cx="128584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Feb 28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990975" y="3038475"/>
            <a:ext cx="2943151" cy="304800"/>
          </a:xfrm>
          <a:prstGeom prst="roundRect">
            <a:avLst>
              <a:gd name="adj" fmla="val 50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838579" y="3609975"/>
            <a:ext cx="3247943" cy="2495550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990975" y="3800475"/>
            <a:ext cx="342891" cy="438149"/>
          </a:xfrm>
          <a:prstGeom prst="roundRect">
            <a:avLst>
              <a:gd name="adj" fmla="val 44444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067173" y="3939988"/>
            <a:ext cx="190495" cy="140073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5410064" y="3809999"/>
            <a:ext cx="139061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Notes Tab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10064" y="4076699"/>
            <a:ext cx="139061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Private notes &amp; reminders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990975" y="4352924"/>
            <a:ext cx="2943151" cy="342900"/>
          </a:xfrm>
          <a:prstGeom prst="roundRect">
            <a:avLst>
              <a:gd name="adj" fmla="val 44444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067173" y="4465700"/>
            <a:ext cx="133346" cy="11734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5257668" y="4448175"/>
            <a:ext cx="98105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Add private notes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990975" y="4772025"/>
            <a:ext cx="2943151" cy="342900"/>
          </a:xfrm>
          <a:prstGeom prst="roundRect">
            <a:avLst>
              <a:gd name="adj" fmla="val 44444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067173" y="4890135"/>
            <a:ext cx="133346" cy="10668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5257668" y="4867274"/>
            <a:ext cx="100962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Interaction history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990975" y="5191125"/>
            <a:ext cx="2943151" cy="342900"/>
          </a:xfrm>
          <a:prstGeom prst="roundRect">
            <a:avLst>
              <a:gd name="adj" fmla="val 44444"/>
            </a:avLst>
          </a:prstGeom>
          <a:gradFill rotWithShape="1">
            <a:gsLst>
              <a:gs pos="0">
                <a:srgbClr val="F8FAFC"/>
              </a:gs>
              <a:gs pos="100000">
                <a:srgbClr val="F1F5F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067173" y="5303901"/>
            <a:ext cx="133346" cy="117348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5257668" y="5286375"/>
            <a:ext cx="77150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Set reminders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990975" y="5648325"/>
            <a:ext cx="2943151" cy="304800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67173" y="5724524"/>
            <a:ext cx="279075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B45309"/>
                </a:solidFill>
                <a:latin typeface="Inter"/>
                <a:rFonts ascii="Inter" hAnsi="Inter" eastAsia="Inter" cs="Inter"/>
              </a:rPr>
              <a:t>Note: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Prefers medium cuts, bulk orders monthly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277018" y="1000125"/>
            <a:ext cx="3247943" cy="5095874"/>
          </a:xfrm>
          <a:prstGeom prst="roundRect">
            <a:avLst>
              <a:gd name="adj" fmla="val 703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 Same Side Corner Rectangle 76"/>
          <p:cNvSpPr/>
          <p:nvPr/>
        </p:nvSpPr>
        <p:spPr>
          <a:xfrm rot="16200000">
            <a:off x="5795121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467513" y="1204632"/>
            <a:ext cx="190495" cy="162485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8734206" y="1152524"/>
            <a:ext cx="162873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Additional Features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467513" y="1533525"/>
            <a:ext cx="2905052" cy="895350"/>
          </a:xfrm>
          <a:prstGeom prst="roundRect">
            <a:avLst>
              <a:gd name="adj" fmla="val 17021"/>
            </a:avLst>
          </a:prstGeom>
          <a:gradFill rotWithShape="1">
            <a:gsLst>
              <a:gs pos="0">
                <a:srgbClr val="FEF2F2"/>
              </a:gs>
              <a:gs pos="100000">
                <a:srgbClr val="EFF6FF"/>
              </a:gs>
            </a:gsLst>
            <a:lin scaled="0" ang="8100000"/>
          </a:gradFill>
          <a:ln w="825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591335" y="1706335"/>
            <a:ext cx="152396" cy="130628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8800879" y="1676400"/>
            <a:ext cx="8572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Aging Report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591335" y="1962149"/>
            <a:ext cx="55243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0-30 days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772505" y="1962149"/>
            <a:ext cx="47623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$850.00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591335" y="2152650"/>
            <a:ext cx="6000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31-60 days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762980" y="2152650"/>
            <a:ext cx="48576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$400.00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467513" y="2543175"/>
            <a:ext cx="2905052" cy="380999"/>
          </a:xfrm>
          <a:prstGeom prst="roundRect">
            <a:avLst>
              <a:gd name="adj" fmla="val 40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8467513" y="3000375"/>
            <a:ext cx="2905052" cy="380999"/>
          </a:xfrm>
          <a:prstGeom prst="roundRect">
            <a:avLst>
              <a:gd name="adj" fmla="val 40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8467513" y="3457575"/>
            <a:ext cx="2905052" cy="400050"/>
          </a:xfrm>
          <a:prstGeom prst="roundRect">
            <a:avLst>
              <a:gd name="adj" fmla="val 38095"/>
            </a:avLst>
          </a:prstGeom>
          <a:solidFill>
            <a:srgbClr val="F3F4F6"/>
          </a:solidFill>
          <a:ln w="825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467513" y="3971925"/>
            <a:ext cx="290505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Customer Tags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467513" y="4200525"/>
            <a:ext cx="733406" cy="190499"/>
          </a:xfrm>
          <a:prstGeom prst="roundRect">
            <a:avLst>
              <a:gd name="adj" fmla="val 40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467513" y="4200525"/>
            <a:ext cx="7334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Wholesale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258068" y="4200525"/>
            <a:ext cx="571485" cy="190499"/>
          </a:xfrm>
          <a:prstGeom prst="roundRect">
            <a:avLst>
              <a:gd name="adj" fmla="val 40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258068" y="4200525"/>
            <a:ext cx="57148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66534"/>
                </a:solidFill>
                <a:latin typeface="Inter"/>
                <a:rFonts ascii="Inter" hAnsi="Inter" eastAsia="Inter" cs="Inter"/>
              </a:rPr>
              <a:t>Regular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886702" y="4200525"/>
            <a:ext cx="342891" cy="190499"/>
          </a:xfrm>
          <a:prstGeom prst="roundRect">
            <a:avLst>
              <a:gd name="adj" fmla="val 40000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886702" y="4200525"/>
            <a:ext cx="3428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6B21A8"/>
                </a:solidFill>
                <a:latin typeface="Inter"/>
                <a:rFonts ascii="Inter" hAnsi="Inter" eastAsia="Inter" cs="Inter"/>
              </a:rPr>
              <a:t>VIP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2F2"/>
            </a:gs>
            <a:gs pos="100000">
              <a:srgbClr val="FEE2E2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905652" y="-1714500"/>
            <a:ext cx="4286142" cy="4286250"/>
          </a:xfrm>
          <a:prstGeom prst="roundRect">
            <a:avLst>
              <a:gd name="adj" fmla="val 50000"/>
            </a:avLst>
          </a:prstGeom>
          <a:solidFill>
            <a:srgbClr val="1E40A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761980" y="3486150"/>
            <a:ext cx="2857428" cy="2857500"/>
          </a:xfrm>
          <a:prstGeom prst="roundRect">
            <a:avLst>
              <a:gd name="adj" fmla="val 50000"/>
            </a:avLst>
          </a:prstGeom>
          <a:solidFill>
            <a:srgbClr val="DC262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66733" y="209550"/>
            <a:ext cx="57148" cy="380999"/>
          </a:xfrm>
          <a:prstGeom prst="roundRect">
            <a:avLst>
              <a:gd name="adj" fmla="val 133333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278" y="114300"/>
            <a:ext cx="559103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40AF"/>
                </a:solidFill>
                <a:latin typeface="Inter"/>
                <a:rFonts ascii="Inter" hAnsi="Inter" eastAsia="Inter" cs="Inter"/>
              </a:rPr>
              <a:t>Loyalty Program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53416" y="247649"/>
            <a:ext cx="1028674" cy="304800"/>
          </a:xfrm>
          <a:prstGeom prst="roundRect">
            <a:avLst>
              <a:gd name="adj" fmla="val 6249375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53416" y="247649"/>
            <a:ext cx="10286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00000"/>
                </a:solidFill>
                <a:latin typeface="Inter"/>
                <a:rFonts ascii="Inter" hAnsi="Inter" eastAsia="Inter" cs="Inter"/>
              </a:rPr>
              <a:t>Section 8.5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1000125"/>
            <a:ext cx="3924201" cy="5095874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-1815164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5327" y="11906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90575" y="1341120"/>
            <a:ext cx="228594" cy="1943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28714" y="1314450"/>
            <a:ext cx="188590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Enrolling Customers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5327" y="18764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1050" y="1914525"/>
            <a:ext cx="4762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9169" y="1857375"/>
            <a:ext cx="106677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Customer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169" y="2066924"/>
            <a:ext cx="106677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From customer list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5327" y="23526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1525" y="2390774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169" y="2333624"/>
            <a:ext cx="151443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"Enroll in Loyalty"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169" y="2543175"/>
            <a:ext cx="151443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Button in customer profile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327" y="28289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525" y="2867025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9169" y="2809875"/>
            <a:ext cx="164778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Loyalty Tier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19169" y="3076574"/>
            <a:ext cx="581010" cy="228600"/>
          </a:xfrm>
          <a:prstGeom prst="roundRect">
            <a:avLst>
              <a:gd name="adj" fmla="val 33333"/>
            </a:avLst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19169" y="3076574"/>
            <a:ext cx="5810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92400E"/>
                </a:solidFill>
                <a:latin typeface="Inter"/>
                <a:rFonts ascii="Inter" hAnsi="Inter" eastAsia="Inter" cs="Inter"/>
              </a:rPr>
              <a:t>Bronze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57328" y="3076574"/>
            <a:ext cx="504812" cy="228600"/>
          </a:xfrm>
          <a:prstGeom prst="roundRect">
            <a:avLst>
              <a:gd name="adj" fmla="val 33333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57328" y="3076574"/>
            <a:ext cx="5048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Silver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19289" y="3076574"/>
            <a:ext cx="447663" cy="228600"/>
          </a:xfrm>
          <a:prstGeom prst="roundRect">
            <a:avLst>
              <a:gd name="adj" fmla="val 33333"/>
            </a:avLst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19289" y="3076574"/>
            <a:ext cx="4476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854D0E"/>
                </a:solidFill>
                <a:latin typeface="Inter"/>
                <a:rFonts ascii="Inter" hAnsi="Inter" eastAsia="Inter" cs="Inter"/>
              </a:rPr>
              <a:t>Gold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5327" y="34385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952476" y="3515157"/>
            <a:ext cx="114297" cy="7533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219169" y="3419474"/>
            <a:ext cx="148586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Confirm Enrollment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9169" y="3629025"/>
            <a:ext cx="148586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Customer now earns points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5327" y="3933824"/>
            <a:ext cx="3505112" cy="45720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09624" y="4097110"/>
            <a:ext cx="152396" cy="13062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38219" y="4086225"/>
            <a:ext cx="25621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Points earned </a:t>
            </a:r>
            <a:r>
              <a:rPr sz="717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automatically</a:t>
            </a:r>
            <a:r>
              <a:rPr sz="717" b="0">
                <a:solidFill>
                  <a:srgbClr val="374151"/>
                </a:solidFill>
                <a:latin typeface="Inter"/>
                <a:rFonts ascii="Inter" hAnsi="Inter" eastAsia="Inter" cs="Inter"/>
              </a:rPr>
              <a:t> on every purchase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81430" y="1000125"/>
            <a:ext cx="3924201" cy="5095874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2299533" y="3482022"/>
            <a:ext cx="509587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010024" y="1190625"/>
            <a:ext cx="419089" cy="514350"/>
          </a:xfrm>
          <a:prstGeom prst="roundRect">
            <a:avLst>
              <a:gd name="adj" fmla="val 36363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105272" y="1345406"/>
            <a:ext cx="228594" cy="18573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543411" y="1314450"/>
            <a:ext cx="16763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Redeeming Points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10024" y="18764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05272" y="1914525"/>
            <a:ext cx="4762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33866" y="1857375"/>
            <a:ext cx="21716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During checkout, select customer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33866" y="2066924"/>
            <a:ext cx="21716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In POS right panel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10024" y="235267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95747" y="2390774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33866" y="2333624"/>
            <a:ext cx="209544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System displays available points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33866" y="2600325"/>
            <a:ext cx="2095447" cy="438149"/>
          </a:xfrm>
          <a:prstGeom prst="roundRect">
            <a:avLst>
              <a:gd name="adj" fmla="val 34782"/>
            </a:avLst>
          </a:prstGeom>
          <a:gradFill rotWithShape="1">
            <a:gsLst>
              <a:gs pos="0">
                <a:srgbClr val="FFFBEB"/>
              </a:gs>
              <a:gs pos="100000">
                <a:srgbClr val="FEFCE8"/>
              </a:gs>
            </a:gsLst>
            <a:lin scaled="0" ang="10800000"/>
          </a:gradFill>
          <a:ln w="825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19589" y="2743200"/>
            <a:ext cx="8477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Available Points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33986" y="2686050"/>
            <a:ext cx="8096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B45309"/>
                </a:solidFill>
                <a:latin typeface="Inter"/>
                <a:rFonts ascii="Inter" hAnsi="Inter" eastAsia="Inter" cs="Inter"/>
              </a:rPr>
              <a:t>2,450 pts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10024" y="3171825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86222" y="3209925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33866" y="3152775"/>
            <a:ext cx="1438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Click "Apply Points"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33866" y="3362324"/>
            <a:ext cx="14382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Shows redemption options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10024" y="364807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86222" y="3686175"/>
            <a:ext cx="7619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33866" y="3629025"/>
            <a:ext cx="172398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Select discount amount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33866" y="3838574"/>
            <a:ext cx="172398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Choose how many points to use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010024" y="4124324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067173" y="4200957"/>
            <a:ext cx="114297" cy="75334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5333866" y="4105274"/>
            <a:ext cx="19525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Points deducted automatically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333866" y="4314825"/>
            <a:ext cx="195257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130"/>
              </a:spcBef>
              <a:spcAft>
                <a:spcPts val="0"/>
              </a:spcAft>
            </a:pPr>
            <a:r>
              <a:rPr sz="717" b="0">
                <a:solidFill>
                  <a:srgbClr val="6B7280"/>
                </a:solidFill>
                <a:latin typeface="Inter"/>
                <a:rFonts ascii="Inter" hAnsi="Inter" eastAsia="Inter" cs="Inter"/>
              </a:rPr>
              <a:t>Discount applied to total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905652" y="1000125"/>
            <a:ext cx="2476438" cy="5095874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3302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058048" y="1242732"/>
            <a:ext cx="190495" cy="162485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9324741" y="1190625"/>
            <a:ext cx="11143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How It Works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058048" y="1571625"/>
            <a:ext cx="2171645" cy="819149"/>
          </a:xfrm>
          <a:prstGeom prst="roundRect">
            <a:avLst>
              <a:gd name="adj" fmla="val 18604"/>
            </a:avLst>
          </a:prstGeom>
          <a:gradFill rotWithShape="1">
            <a:gsLst>
              <a:gs pos="0">
                <a:srgbClr val="F0FDF4"/>
              </a:gs>
              <a:gs pos="100000">
                <a:srgbClr val="ECFDF5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172345" y="1734910"/>
            <a:ext cx="152396" cy="130628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9381890" y="1724024"/>
            <a:ext cx="62863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1F2937"/>
                </a:solidFill>
                <a:latin typeface="Inter"/>
                <a:rFonts ascii="Inter" hAnsi="Inter" eastAsia="Inter" cs="Inter"/>
              </a:rPr>
              <a:t>Earn Points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72345" y="1971675"/>
            <a:ext cx="194305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Points on every purchase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72345" y="2124075"/>
            <a:ext cx="194305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Tracked automatically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58048" y="2505074"/>
            <a:ext cx="21716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Tier Benefits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058048" y="2733674"/>
            <a:ext cx="2171645" cy="304800"/>
          </a:xfrm>
          <a:prstGeom prst="roundRect">
            <a:avLst>
              <a:gd name="adj" fmla="val 25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 Same Side Corner Rectangle 73"/>
          <p:cNvSpPr/>
          <p:nvPr/>
        </p:nvSpPr>
        <p:spPr>
          <a:xfrm rot="16200000">
            <a:off x="8938668" y="2853054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53296" y="2809875"/>
            <a:ext cx="39051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Bronze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20089" y="2809875"/>
            <a:ext cx="7334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Base rewards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058048" y="3095625"/>
            <a:ext cx="2171645" cy="304800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 Same Side Corner Rectangle 77"/>
          <p:cNvSpPr/>
          <p:nvPr/>
        </p:nvSpPr>
        <p:spPr>
          <a:xfrm rot="16200000">
            <a:off x="8938668" y="3215005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53296" y="3171825"/>
            <a:ext cx="31431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Silver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553436" y="3171825"/>
            <a:ext cx="6000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10% bonus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058048" y="3457575"/>
            <a:ext cx="2171645" cy="304800"/>
          </a:xfrm>
          <a:prstGeom prst="roundRect">
            <a:avLst>
              <a:gd name="adj" fmla="val 25000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 Same Side Corner Rectangle 81"/>
          <p:cNvSpPr/>
          <p:nvPr/>
        </p:nvSpPr>
        <p:spPr>
          <a:xfrm rot="16200000">
            <a:off x="8938668" y="3576955"/>
            <a:ext cx="3048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53296" y="3533774"/>
            <a:ext cx="25716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374151"/>
                </a:solidFill>
                <a:latin typeface="Inter"/>
                <a:rFonts ascii="Inter" hAnsi="Inter" eastAsia="Inter" cs="Inter"/>
              </a:rPr>
              <a:t>Gold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534386" y="3533774"/>
            <a:ext cx="61910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B5563"/>
                </a:solidFill>
                <a:latin typeface="Inter"/>
                <a:rFonts ascii="Inter" hAnsi="Inter" eastAsia="Inter" cs="Inter"/>
              </a:rPr>
              <a:t>20% bonus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058048" y="3876674"/>
            <a:ext cx="2171645" cy="342900"/>
          </a:xfrm>
          <a:prstGeom prst="roundRect">
            <a:avLst>
              <a:gd name="adj" fmla="val 22222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9058048" y="4295774"/>
            <a:ext cx="2171645" cy="361950"/>
          </a:xfrm>
          <a:prstGeom prst="roundRect">
            <a:avLst>
              <a:gd name="adj" fmla="val 21052"/>
            </a:avLst>
          </a:prstGeom>
          <a:solidFill>
            <a:srgbClr val="F3F4F6"/>
          </a:solidFill>
          <a:ln w="8255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0" y="5314950"/>
            <a:ext cx="12048823" cy="76200"/>
          </a:xfrm>
          <a:prstGeom prst="rect">
            <a:avLst/>
          </a:prstGeom>
          <a:gradFill rotWithShape="1">
            <a:gsLst>
              <a:gs pos="0">
                <a:srgbClr val="991B1B"/>
              </a:gs>
              <a:gs pos="50000">
                <a:srgbClr val="DC2626"/>
              </a:gs>
              <a:gs pos="100000">
                <a:srgbClr val="991B1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