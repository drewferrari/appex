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1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Relationship Id="rId9" Type="http://schemas.openxmlformats.org/officeDocument/2006/relationships/image" Target="../media/image30.png"/><Relationship Id="rId10" Type="http://schemas.openxmlformats.org/officeDocument/2006/relationships/image" Target="../media/image31.png"/><Relationship Id="rId11" Type="http://schemas.openxmlformats.org/officeDocument/2006/relationships/image" Target="../media/image3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11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Relationship Id="rId7" Type="http://schemas.openxmlformats.org/officeDocument/2006/relationships/image" Target="../media/image4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9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Relationship Id="rId9" Type="http://schemas.openxmlformats.org/officeDocument/2006/relationships/image" Target="../media/image5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Relationship Id="rId5" Type="http://schemas.openxmlformats.org/officeDocument/2006/relationships/image" Target="../media/image6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62.png"/><Relationship Id="rId4" Type="http://schemas.openxmlformats.org/officeDocument/2006/relationships/image" Target="../media/image6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Relationship Id="rId6" Type="http://schemas.openxmlformats.org/officeDocument/2006/relationships/image" Target="../media/image68.png"/><Relationship Id="rId7" Type="http://schemas.openxmlformats.org/officeDocument/2006/relationships/image" Target="../media/image69.png"/><Relationship Id="rId8" Type="http://schemas.openxmlformats.org/officeDocument/2006/relationships/image" Target="../media/image3.png"/><Relationship Id="rId9" Type="http://schemas.openxmlformats.org/officeDocument/2006/relationships/image" Target="../media/image70.png"/><Relationship Id="rId10" Type="http://schemas.openxmlformats.org/officeDocument/2006/relationships/image" Target="../media/image71.png"/><Relationship Id="rId11" Type="http://schemas.openxmlformats.org/officeDocument/2006/relationships/image" Target="../media/image72.png"/><Relationship Id="rId12" Type="http://schemas.openxmlformats.org/officeDocument/2006/relationships/image" Target="../media/image73.png"/><Relationship Id="rId13" Type="http://schemas.openxmlformats.org/officeDocument/2006/relationships/image" Target="../media/image74.png"/><Relationship Id="rId14" Type="http://schemas.openxmlformats.org/officeDocument/2006/relationships/image" Target="../media/image75.png"/><Relationship Id="rId15" Type="http://schemas.openxmlformats.org/officeDocument/2006/relationships/image" Target="../media/image76.png"/><Relationship Id="rId16" Type="http://schemas.openxmlformats.org/officeDocument/2006/relationships/image" Target="../media/image7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png"/><Relationship Id="rId3" Type="http://schemas.openxmlformats.org/officeDocument/2006/relationships/image" Target="../media/image79.png"/><Relationship Id="rId4" Type="http://schemas.openxmlformats.org/officeDocument/2006/relationships/image" Target="../media/image80.png"/><Relationship Id="rId5" Type="http://schemas.openxmlformats.org/officeDocument/2006/relationships/image" Target="../media/image81.png"/><Relationship Id="rId6" Type="http://schemas.openxmlformats.org/officeDocument/2006/relationships/image" Target="../media/image82.png"/><Relationship Id="rId7" Type="http://schemas.openxmlformats.org/officeDocument/2006/relationships/image" Target="../media/image83.png"/><Relationship Id="rId8" Type="http://schemas.openxmlformats.org/officeDocument/2006/relationships/image" Target="../media/image84.png"/><Relationship Id="rId9" Type="http://schemas.openxmlformats.org/officeDocument/2006/relationships/image" Target="../media/image85.png"/><Relationship Id="rId10" Type="http://schemas.openxmlformats.org/officeDocument/2006/relationships/image" Target="../media/image8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0E7FF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858028" y="-1904999"/>
            <a:ext cx="4762380" cy="4762500"/>
          </a:xfrm>
          <a:prstGeom prst="roundRect">
            <a:avLst>
              <a:gd name="adj" fmla="val 50000"/>
            </a:avLst>
          </a:prstGeom>
          <a:solidFill>
            <a:srgbClr val="1E40A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952476" y="4667249"/>
            <a:ext cx="3333666" cy="3333749"/>
          </a:xfrm>
          <a:prstGeom prst="roundRect">
            <a:avLst>
              <a:gd name="adj" fmla="val 50000"/>
            </a:avLst>
          </a:prstGeom>
          <a:solidFill>
            <a:srgbClr val="3B82F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429314" y="3047999"/>
            <a:ext cx="2381190" cy="2381250"/>
          </a:xfrm>
          <a:prstGeom prst="roundRect">
            <a:avLst>
              <a:gd name="adj" fmla="val 50000"/>
            </a:avLst>
          </a:prstGeom>
          <a:solidFill>
            <a:srgbClr val="1E40A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66733" y="1543050"/>
            <a:ext cx="3286042" cy="419100"/>
          </a:xfrm>
          <a:prstGeom prst="roundRect">
            <a:avLst>
              <a:gd name="adj" fmla="val 4545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6733" y="1543050"/>
            <a:ext cx="3286042" cy="419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 SECTIONS 5.5-6 &amp; TROUBLESHOOTING 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677936"/>
            <a:ext cx="171445" cy="14932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6733" y="2266950"/>
            <a:ext cx="7676958" cy="1381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1560"/>
              </a:spcAft>
            </a:pPr>
            <a:r>
              <a:rPr sz="3468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 Tax Reports, Settings</a:t>
            </a:r>
            <a:r>
              <a:rPr sz="1104"/>
              <a:t>
</a:t>
            </a:r>
            <a:r>
              <a:rPr sz="3468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 &amp; Troubleshooting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33" y="3876674"/>
            <a:ext cx="7676958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2600"/>
              </a:spcAft>
            </a:pPr>
            <a:r>
              <a:rPr sz="1315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</a:t>
            </a:r>
            <a:r>
              <a:rPr sz="1315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Staff Onboarding Guide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3886200"/>
            <a:ext cx="57148" cy="304800"/>
          </a:xfrm>
          <a:prstGeom prst="roundRect">
            <a:avLst>
              <a:gd name="adj" fmla="val 133333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6733" y="4572000"/>
            <a:ext cx="914377" cy="57150"/>
          </a:xfrm>
          <a:prstGeom prst="roundRect">
            <a:avLst>
              <a:gd name="adj" fmla="val 133333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5073967"/>
            <a:ext cx="228594" cy="1771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09624" y="5048250"/>
            <a:ext cx="405754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Complete Guide to Configuration &amp; System Maintenance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24681" y="1600200"/>
            <a:ext cx="2800279" cy="3657600"/>
          </a:xfrm>
          <a:prstGeom prst="roundRect">
            <a:avLst>
              <a:gd name="adj" fmla="val 1088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6961921" y="3362960"/>
            <a:ext cx="36576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67573" y="1904999"/>
            <a:ext cx="215259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1560"/>
              </a:spcAft>
            </a:pPr>
            <a:r>
              <a:rPr sz="837" b="1">
                <a:solidFill>
                  <a:srgbClr val="6B7280"/>
                </a:solidFill>
                <a:latin typeface="Inter"/>
                <a:rFonts ascii="Inter" hAnsi="Inter" eastAsia="Inter" cs="Inter"/>
              </a:rPr>
              <a:t>KEY TOPICS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67573" y="2324100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162820" y="2474595"/>
            <a:ext cx="228594" cy="19430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639059" y="2324100"/>
            <a:ext cx="120011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Tax Reports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39059" y="2571750"/>
            <a:ext cx="120011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ZIMRA Compliance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67573" y="3028950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162820" y="3188017"/>
            <a:ext cx="228594" cy="17716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639059" y="3028950"/>
            <a:ext cx="124774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System Settings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39059" y="3276599"/>
            <a:ext cx="124774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Store &amp; User Config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67573" y="3733799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162820" y="3892867"/>
            <a:ext cx="228594" cy="17716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639059" y="3733799"/>
            <a:ext cx="124774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Hardware Setup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39059" y="3981449"/>
            <a:ext cx="124774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Printers &amp; Scanners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67573" y="4438649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162820" y="4576286"/>
            <a:ext cx="228594" cy="22002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639059" y="4438649"/>
            <a:ext cx="120964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Troubleshooting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9059" y="4686300"/>
            <a:ext cx="120964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Common Issues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1E40AF"/>
              </a:gs>
              <a:gs pos="50000">
                <a:srgbClr val="3B82F6"/>
              </a:gs>
              <a:gs pos="100000">
                <a:srgbClr val="1E40A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0E7FF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E40A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3B82F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583867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Tax Reports (ZIMRA Compliant)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96287" y="247649"/>
            <a:ext cx="1028674" cy="304800"/>
          </a:xfrm>
          <a:prstGeom prst="roundRect">
            <a:avLst>
              <a:gd name="adj" fmla="val 6249375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96287" y="247649"/>
            <a:ext cx="102867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5.5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114425"/>
            <a:ext cx="5314817" cy="4429125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5327" y="1381124"/>
            <a:ext cx="514337" cy="600075"/>
          </a:xfrm>
          <a:prstGeom prst="roundRect">
            <a:avLst>
              <a:gd name="adj" fmla="val 29629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09624" y="1544410"/>
            <a:ext cx="285742" cy="244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62060" y="1428750"/>
            <a:ext cx="2390715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VAT Summary Report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2060" y="1752599"/>
            <a:ext cx="239071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Monthly/Quarterly filing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5327" y="2171700"/>
            <a:ext cx="4857628" cy="495299"/>
          </a:xfrm>
          <a:prstGeom prst="roundRect">
            <a:avLst>
              <a:gd name="adj" fmla="val 30769"/>
            </a:avLst>
          </a:prstGeom>
          <a:gradFill rotWithShape="1">
            <a:gsLst>
              <a:gs pos="0">
                <a:srgbClr val="EFF6FF"/>
              </a:gs>
              <a:gs pos="100000">
                <a:srgbClr val="FAF5F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09624" y="2286000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9624" y="2286000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90615" y="2305049"/>
            <a:ext cx="297172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Select "Tax Reports" → "VAT Summary"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5327" y="2762249"/>
            <a:ext cx="4857628" cy="495299"/>
          </a:xfrm>
          <a:prstGeom prst="roundRect">
            <a:avLst>
              <a:gd name="adj" fmla="val 30769"/>
            </a:avLst>
          </a:prstGeom>
          <a:gradFill rotWithShape="1">
            <a:gsLst>
              <a:gs pos="0">
                <a:srgbClr val="EFF6FF"/>
              </a:gs>
              <a:gs pos="100000">
                <a:srgbClr val="FAF5F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09624" y="2876549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9624" y="2876549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0615" y="2895600"/>
            <a:ext cx="256216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Choose period (monthly/quarterly)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5327" y="3352800"/>
            <a:ext cx="4857628" cy="1181099"/>
          </a:xfrm>
          <a:prstGeom prst="roundRect">
            <a:avLst>
              <a:gd name="adj" fmla="val 12903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47723" y="3580478"/>
            <a:ext cx="171445" cy="11614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295367" y="3543300"/>
            <a:ext cx="132394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View Report Details: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314417" y="3897085"/>
            <a:ext cx="152396" cy="13062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523961" y="3867149"/>
            <a:ext cx="161920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Total sales subject to VAT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495587" y="3897085"/>
            <a:ext cx="152396" cy="13062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705132" y="3867149"/>
            <a:ext cx="86675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VAT collected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314417" y="4201885"/>
            <a:ext cx="152396" cy="13062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523961" y="4171950"/>
            <a:ext cx="114297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VAT on purchases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495587" y="4201885"/>
            <a:ext cx="152396" cy="13062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705132" y="4171950"/>
            <a:ext cx="104772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Net VAT payable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5327" y="4629150"/>
            <a:ext cx="4857628" cy="495299"/>
          </a:xfrm>
          <a:prstGeom prst="roundRect">
            <a:avLst>
              <a:gd name="adj" fmla="val 30769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09624" y="4743450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624" y="4743450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90615" y="4762500"/>
            <a:ext cx="166683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Export for ZIMRA filing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0144" y="1114425"/>
            <a:ext cx="5314817" cy="4429125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438739" y="1381124"/>
            <a:ext cx="514337" cy="600075"/>
          </a:xfrm>
          <a:prstGeom prst="roundRect">
            <a:avLst>
              <a:gd name="adj" fmla="val 29629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553036" y="1544410"/>
            <a:ext cx="285742" cy="24492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105472" y="1428750"/>
            <a:ext cx="293362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Tax Certificate Generation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05472" y="1752599"/>
            <a:ext cx="293362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Customer tax documents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38739" y="2171700"/>
            <a:ext cx="4857628" cy="495299"/>
          </a:xfrm>
          <a:prstGeom prst="roundRect">
            <a:avLst>
              <a:gd name="adj" fmla="val 30769"/>
            </a:avLst>
          </a:prstGeom>
          <a:gradFill rotWithShape="1">
            <a:gsLst>
              <a:gs pos="0">
                <a:srgbClr val="EFF6FF"/>
              </a:gs>
              <a:gs pos="100000">
                <a:srgbClr val="FAF5F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553036" y="2286000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53036" y="2286000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34026" y="2305049"/>
            <a:ext cx="182875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Select "Tax Certificates"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38739" y="2781300"/>
            <a:ext cx="4857628" cy="495299"/>
          </a:xfrm>
          <a:prstGeom prst="roundRect">
            <a:avLst>
              <a:gd name="adj" fmla="val 30769"/>
            </a:avLst>
          </a:prstGeom>
          <a:gradFill rotWithShape="1">
            <a:gsLst>
              <a:gs pos="0">
                <a:srgbClr val="EFF6FF"/>
              </a:gs>
              <a:gs pos="100000">
                <a:srgbClr val="FAF5F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553036" y="2895600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53036" y="2895600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34026" y="2914650"/>
            <a:ext cx="232404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Choose customer or date range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38739" y="3390899"/>
            <a:ext cx="4857628" cy="495299"/>
          </a:xfrm>
          <a:prstGeom prst="roundRect">
            <a:avLst>
              <a:gd name="adj" fmla="val 30769"/>
            </a:avLst>
          </a:prstGeom>
          <a:gradFill rotWithShape="1">
            <a:gsLst>
              <a:gs pos="0">
                <a:srgbClr val="EFF6FF"/>
              </a:gs>
              <a:gs pos="100000">
                <a:srgbClr val="FAF5F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553036" y="3505199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53036" y="3505199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34026" y="3524250"/>
            <a:ext cx="205734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"Generate Certificate"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38739" y="4000500"/>
            <a:ext cx="4857628" cy="495299"/>
          </a:xfrm>
          <a:prstGeom prst="roundRect">
            <a:avLst>
              <a:gd name="adj" fmla="val 30769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553036" y="4114800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53036" y="4114800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34026" y="4133849"/>
            <a:ext cx="249548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PDF created with required tax info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38739" y="4610099"/>
            <a:ext cx="4857628" cy="704849"/>
          </a:xfrm>
          <a:prstGeom prst="roundRect">
            <a:avLst>
              <a:gd name="adj" fmla="val 21621"/>
            </a:avLst>
          </a:prstGeom>
          <a:solidFill>
            <a:srgbClr val="EFF6FF"/>
          </a:solidFill>
          <a:ln w="825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600659" y="4849761"/>
            <a:ext cx="171445" cy="149327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6848303" y="4772025"/>
            <a:ext cx="4286142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Note: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Tax certificates include all required ZIMRA information for customer records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1E40AF"/>
              </a:gs>
              <a:gs pos="50000">
                <a:srgbClr val="3B82F6"/>
              </a:gs>
              <a:gs pos="100000">
                <a:srgbClr val="1E40A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0E7FF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E40A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3B82F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4962400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Staff Performance Reports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96287" y="247649"/>
            <a:ext cx="1028674" cy="304800"/>
          </a:xfrm>
          <a:prstGeom prst="roundRect">
            <a:avLst>
              <a:gd name="adj" fmla="val 6249375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96287" y="247649"/>
            <a:ext cx="102867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5.6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581149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761980" y="1740217"/>
            <a:ext cx="228594" cy="1771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00119" y="1676400"/>
            <a:ext cx="160015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Process Steps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2286000"/>
            <a:ext cx="5314817" cy="781050"/>
          </a:xfrm>
          <a:prstGeom prst="roundRect">
            <a:avLst>
              <a:gd name="adj" fmla="val 2926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342248" y="2610485"/>
            <a:ext cx="781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57228" y="2495550"/>
            <a:ext cx="342891" cy="342900"/>
          </a:xfrm>
          <a:prstGeom prst="roundRect">
            <a:avLst>
              <a:gd name="adj" fmla="val 5555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228" y="2495550"/>
            <a:ext cx="34289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2516" y="2438400"/>
            <a:ext cx="210497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Select Staff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2516" y="2724150"/>
            <a:ext cx="210497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From Reports menu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6733" y="3181350"/>
            <a:ext cx="5314817" cy="781050"/>
          </a:xfrm>
          <a:prstGeom prst="roundRect">
            <a:avLst>
              <a:gd name="adj" fmla="val 2926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 rot="16200000">
            <a:off x="342248" y="3505835"/>
            <a:ext cx="781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7228" y="3390899"/>
            <a:ext cx="342891" cy="342900"/>
          </a:xfrm>
          <a:prstGeom prst="roundRect">
            <a:avLst>
              <a:gd name="adj" fmla="val 55550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7228" y="3390899"/>
            <a:ext cx="34289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2516" y="3333749"/>
            <a:ext cx="183827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Choose Staff Member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2516" y="3619499"/>
            <a:ext cx="18382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Select individual or "All Staff"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6733" y="4076699"/>
            <a:ext cx="5314817" cy="781050"/>
          </a:xfrm>
          <a:prstGeom prst="roundRect">
            <a:avLst>
              <a:gd name="adj" fmla="val 2926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 Same Side Corner Rectangle 23"/>
          <p:cNvSpPr/>
          <p:nvPr/>
        </p:nvSpPr>
        <p:spPr>
          <a:xfrm rot="16200000">
            <a:off x="342248" y="4401184"/>
            <a:ext cx="781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57228" y="4286250"/>
            <a:ext cx="342891" cy="342900"/>
          </a:xfrm>
          <a:prstGeom prst="roundRect">
            <a:avLst>
              <a:gd name="adj" fmla="val 5555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7228" y="4286250"/>
            <a:ext cx="34289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2516" y="4229100"/>
            <a:ext cx="16382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Choose Date Range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52516" y="4514850"/>
            <a:ext cx="163825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Select period for analysis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6733" y="4972050"/>
            <a:ext cx="5314817" cy="781050"/>
          </a:xfrm>
          <a:prstGeom prst="roundRect">
            <a:avLst>
              <a:gd name="adj" fmla="val 2926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 Same Side Corner Rectangle 29"/>
          <p:cNvSpPr/>
          <p:nvPr/>
        </p:nvSpPr>
        <p:spPr>
          <a:xfrm rot="16200000">
            <a:off x="342248" y="5296535"/>
            <a:ext cx="781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57228" y="5181599"/>
            <a:ext cx="342891" cy="342900"/>
          </a:xfrm>
          <a:prstGeom prst="roundRect">
            <a:avLst>
              <a:gd name="adj" fmla="val 5555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7228" y="5181599"/>
            <a:ext cx="34289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52516" y="5124449"/>
            <a:ext cx="222879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View Performance Metrics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52516" y="5410199"/>
            <a:ext cx="222879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Review detailed statistics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0144" y="1676400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305392" y="1835467"/>
            <a:ext cx="228594" cy="17716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743531" y="1771650"/>
            <a:ext cx="2362140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Performance Metrics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0144" y="2381250"/>
            <a:ext cx="2600259" cy="838200"/>
          </a:xfrm>
          <a:prstGeom prst="roundRect">
            <a:avLst>
              <a:gd name="adj" fmla="val 2727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362540" y="2596963"/>
            <a:ext cx="190495" cy="140073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629234" y="2552700"/>
            <a:ext cx="101914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Sales by Staff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2540" y="2876549"/>
            <a:ext cx="229546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Total revenue generated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24701" y="2381250"/>
            <a:ext cx="2600259" cy="838200"/>
          </a:xfrm>
          <a:prstGeom prst="roundRect">
            <a:avLst>
              <a:gd name="adj" fmla="val 2727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077098" y="2585757"/>
            <a:ext cx="190495" cy="162485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9343791" y="2552700"/>
            <a:ext cx="97152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Transactions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77098" y="2876549"/>
            <a:ext cx="229546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Number of sales processed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10144" y="3333749"/>
            <a:ext cx="2600259" cy="838200"/>
          </a:xfrm>
          <a:prstGeom prst="roundRect">
            <a:avLst>
              <a:gd name="adj" fmla="val 2727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362540" y="3566272"/>
            <a:ext cx="190495" cy="106455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629234" y="3505199"/>
            <a:ext cx="120964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Avg Transaction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62540" y="3829050"/>
            <a:ext cx="229546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Average sale value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924701" y="3333749"/>
            <a:ext cx="2600259" cy="838200"/>
          </a:xfrm>
          <a:prstGeom prst="roundRect">
            <a:avLst>
              <a:gd name="adj" fmla="val 2727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077098" y="3576077"/>
            <a:ext cx="190495" cy="86845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9343791" y="3505199"/>
            <a:ext cx="58101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Returns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77098" y="3829050"/>
            <a:ext cx="229546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Processed returns count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10144" y="4286250"/>
            <a:ext cx="5314817" cy="742950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362540" y="4566957"/>
            <a:ext cx="190495" cy="162485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629234" y="4457700"/>
            <a:ext cx="106677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Hours Worked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29234" y="4686300"/>
            <a:ext cx="161920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Time tracking (if enabled)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677258" y="4495799"/>
            <a:ext cx="695307" cy="304800"/>
          </a:xfrm>
          <a:prstGeom prst="roundRect">
            <a:avLst>
              <a:gd name="adj" fmla="val 50000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791555" y="4591050"/>
            <a:ext cx="466713" cy="1428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9333EA"/>
                </a:solidFill>
                <a:latin typeface="Inter"/>
                <a:rFonts ascii="Inter" hAnsi="Inter" eastAsia="Inter" cs="Inter"/>
              </a:rPr>
              <a:t>Optional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210144" y="5181599"/>
            <a:ext cx="5314817" cy="476249"/>
          </a:xfrm>
          <a:prstGeom prst="roundRect">
            <a:avLst>
              <a:gd name="adj" fmla="val 32000"/>
            </a:avLst>
          </a:prstGeom>
          <a:solidFill>
            <a:srgbClr val="EFF6FF"/>
          </a:solidFill>
          <a:ln w="825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333966" y="5344885"/>
            <a:ext cx="152396" cy="130628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6562560" y="5314950"/>
            <a:ext cx="428614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Tip: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Use these metrics to identify top performers and training needs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1E40AF"/>
              </a:gs>
              <a:gs pos="50000">
                <a:srgbClr val="3B82F6"/>
              </a:gs>
              <a:gs pos="100000">
                <a:srgbClr val="1E40A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0E7FF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E40A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3B82F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359083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Accessing Settings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34386" y="247649"/>
            <a:ext cx="990575" cy="304800"/>
          </a:xfrm>
          <a:prstGeom prst="roundRect">
            <a:avLst>
              <a:gd name="adj" fmla="val 6249375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34386" y="247649"/>
            <a:ext cx="990575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6.1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190625"/>
            <a:ext cx="10858228" cy="609600"/>
          </a:xfrm>
          <a:prstGeom prst="roundRect">
            <a:avLst>
              <a:gd name="adj" fmla="val 375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427973" y="1429385"/>
            <a:ext cx="6096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398270"/>
            <a:ext cx="228594" cy="19430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00119" y="1381124"/>
            <a:ext cx="539101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B82F6"/>
                </a:solidFill>
                <a:latin typeface="Inter"/>
                <a:rFonts ascii="Inter" hAnsi="Inter" eastAsia="Inter" cs="Inter"/>
              </a:rPr>
              <a:t>Quick Access: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Two simple methods to reach system configuration settings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6733" y="2105024"/>
            <a:ext cx="5276718" cy="354330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6733" y="2143125"/>
            <a:ext cx="5276718" cy="1085850"/>
          </a:xfrm>
          <a:prstGeom prst="rect">
            <a:avLst/>
          </a:prstGeom>
          <a:gradFill rotWithShape="1">
            <a:gsLst>
              <a:gs pos="0">
                <a:srgbClr val="EFF6FF"/>
              </a:gs>
              <a:gs pos="100000">
                <a:srgbClr val="FAF5F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95327" y="2419349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7723" y="2476499"/>
            <a:ext cx="8572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90615" y="2457450"/>
            <a:ext cx="233356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Profile Menu Method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33866" y="2371725"/>
            <a:ext cx="380990" cy="476249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410064" y="2503170"/>
            <a:ext cx="228594" cy="194309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895327" y="3476624"/>
            <a:ext cx="304792" cy="304800"/>
          </a:xfrm>
          <a:prstGeom prst="roundRect">
            <a:avLst>
              <a:gd name="adj" fmla="val 62493750"/>
            </a:avLst>
          </a:prstGeom>
          <a:gradFill rotWithShape="1">
            <a:gsLst>
              <a:gs pos="0">
                <a:srgbClr val="3B82F6"/>
              </a:gs>
              <a:gs pos="100000">
                <a:srgbClr val="1E40A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5327" y="3476624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2516" y="3457575"/>
            <a:ext cx="255263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Click Profile Icon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2516" y="3762374"/>
            <a:ext cx="255263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Located at top right corner of the screen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5327" y="4124324"/>
            <a:ext cx="304792" cy="304800"/>
          </a:xfrm>
          <a:prstGeom prst="roundRect">
            <a:avLst>
              <a:gd name="adj" fmla="val 62493750"/>
            </a:avLst>
          </a:prstGeom>
          <a:gradFill rotWithShape="1">
            <a:gsLst>
              <a:gs pos="0">
                <a:srgbClr val="3B82F6"/>
              </a:gs>
              <a:gs pos="100000">
                <a:srgbClr val="1E40A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5327" y="4124324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52516" y="4105274"/>
            <a:ext cx="188590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Select "Settings"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52516" y="4410074"/>
            <a:ext cx="188590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Choose from dropdown menu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5327" y="4829175"/>
            <a:ext cx="4819529" cy="590549"/>
          </a:xfrm>
          <a:prstGeom prst="roundRect">
            <a:avLst>
              <a:gd name="adj" fmla="val 25806"/>
            </a:avLst>
          </a:prstGeom>
          <a:solidFill>
            <a:srgbClr val="F9FAFB"/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57248" y="5049786"/>
            <a:ext cx="171445" cy="14932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304892" y="5029200"/>
            <a:ext cx="249548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Best for: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Quick access from any screen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48243" y="2105024"/>
            <a:ext cx="5276718" cy="354330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48243" y="2143125"/>
            <a:ext cx="5276718" cy="1085850"/>
          </a:xfrm>
          <a:prstGeom prst="rect">
            <a:avLst/>
          </a:prstGeom>
          <a:gradFill rotWithShape="1">
            <a:gsLst>
              <a:gs pos="0">
                <a:srgbClr val="EFF6FF"/>
              </a:gs>
              <a:gs pos="100000">
                <a:srgbClr val="FAF5F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76838" y="2419349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10184" y="2476499"/>
            <a:ext cx="12382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72125" y="2457450"/>
            <a:ext cx="2124021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Sidebar Navigation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915377" y="2371725"/>
            <a:ext cx="380990" cy="476249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0991575" y="2537459"/>
            <a:ext cx="228594" cy="125729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6476838" y="3476624"/>
            <a:ext cx="304792" cy="304800"/>
          </a:xfrm>
          <a:prstGeom prst="roundRect">
            <a:avLst>
              <a:gd name="adj" fmla="val 62493750"/>
            </a:avLst>
          </a:prstGeom>
          <a:gradFill rotWithShape="1">
            <a:gsLst>
              <a:gs pos="0">
                <a:srgbClr val="3B82F6"/>
              </a:gs>
              <a:gs pos="100000">
                <a:srgbClr val="1E40A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76838" y="3476624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4026" y="3457575"/>
            <a:ext cx="225736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Locate Left Sidebar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34026" y="3762374"/>
            <a:ext cx="225736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Find the navigation menu on the left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76838" y="4124324"/>
            <a:ext cx="304792" cy="304800"/>
          </a:xfrm>
          <a:prstGeom prst="roundRect">
            <a:avLst>
              <a:gd name="adj" fmla="val 62493750"/>
            </a:avLst>
          </a:prstGeom>
          <a:gradFill rotWithShape="1">
            <a:gsLst>
              <a:gs pos="0">
                <a:srgbClr val="3B82F6"/>
              </a:gs>
              <a:gs pos="100000">
                <a:srgbClr val="1E40A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76838" y="4124324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34026" y="4105274"/>
            <a:ext cx="186685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Click "Settings"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34026" y="4410074"/>
            <a:ext cx="186685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Direct button in sidebar menu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76838" y="4829175"/>
            <a:ext cx="4819529" cy="590549"/>
          </a:xfrm>
          <a:prstGeom prst="roundRect">
            <a:avLst>
              <a:gd name="adj" fmla="val 25806"/>
            </a:avLst>
          </a:prstGeom>
          <a:solidFill>
            <a:srgbClr val="F9FAFB"/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638759" y="5049786"/>
            <a:ext cx="171445" cy="149327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886402" y="5029200"/>
            <a:ext cx="244786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Best for: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Dedicated settings navigation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1E40AF"/>
              </a:gs>
              <a:gs pos="50000">
                <a:srgbClr val="3B82F6"/>
              </a:gs>
              <a:gs pos="100000">
                <a:srgbClr val="1E40A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0E7FF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E40A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3B82F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2628834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Store Settings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96287" y="247649"/>
            <a:ext cx="1028674" cy="304800"/>
          </a:xfrm>
          <a:prstGeom prst="roundRect">
            <a:avLst>
              <a:gd name="adj" fmla="val 6249375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96287" y="247649"/>
            <a:ext cx="102867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6.2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38224"/>
            <a:ext cx="5333866" cy="16573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95902" y="1800859"/>
            <a:ext cx="16573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5327" y="1228725"/>
            <a:ext cx="342891" cy="438149"/>
          </a:xfrm>
          <a:prstGeom prst="roundRect">
            <a:avLst>
              <a:gd name="adj" fmla="val 44444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71525" y="1368238"/>
            <a:ext cx="190495" cy="14007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52516" y="1314450"/>
            <a:ext cx="106677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Store Details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95327" y="1836420"/>
            <a:ext cx="133346" cy="8001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04872" y="1781174"/>
            <a:ext cx="74293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Store Name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3390815" y="1836420"/>
            <a:ext cx="133346" cy="8001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600359" y="1781174"/>
            <a:ext cx="89532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Store Address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95327" y="2103120"/>
            <a:ext cx="133346" cy="8001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04872" y="2047874"/>
            <a:ext cx="94295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Phone Number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3390815" y="2103120"/>
            <a:ext cx="133346" cy="8001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600359" y="2047874"/>
            <a:ext cx="89532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Email Address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95327" y="2369820"/>
            <a:ext cx="133346" cy="8001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04872" y="2314575"/>
            <a:ext cx="158111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VAT Registration Number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6733" y="2847974"/>
            <a:ext cx="5333866" cy="2533649"/>
          </a:xfrm>
          <a:prstGeom prst="roundRect">
            <a:avLst>
              <a:gd name="adj" fmla="val 902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 Same Side Corner Rectangle 23"/>
          <p:cNvSpPr/>
          <p:nvPr/>
        </p:nvSpPr>
        <p:spPr>
          <a:xfrm rot="16200000">
            <a:off x="-534051" y="4048758"/>
            <a:ext cx="25336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95327" y="3038475"/>
            <a:ext cx="342891" cy="438149"/>
          </a:xfrm>
          <a:prstGeom prst="roundRect">
            <a:avLst>
              <a:gd name="adj" fmla="val 44444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71525" y="3166782"/>
            <a:ext cx="190495" cy="16248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352516" y="3124200"/>
            <a:ext cx="137156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Receipt Settings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5327" y="3590924"/>
            <a:ext cx="4914777" cy="342900"/>
          </a:xfrm>
          <a:prstGeom prst="roundRect">
            <a:avLst>
              <a:gd name="adj" fmla="val 22222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71525" y="3714368"/>
            <a:ext cx="133346" cy="9601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181070" y="3667124"/>
            <a:ext cx="97152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Receipt Header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10004" y="3686175"/>
            <a:ext cx="92390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Custom text/logo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5327" y="4010024"/>
            <a:ext cx="4914777" cy="342900"/>
          </a:xfrm>
          <a:prstGeom prst="roundRect">
            <a:avLst>
              <a:gd name="adj" fmla="val 22222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71525" y="4133468"/>
            <a:ext cx="133346" cy="9601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181070" y="4086225"/>
            <a:ext cx="91437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Receipt Footer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48083" y="4105274"/>
            <a:ext cx="108582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Thank you message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5327" y="4429125"/>
            <a:ext cx="4914777" cy="342900"/>
          </a:xfrm>
          <a:prstGeom prst="roundRect">
            <a:avLst>
              <a:gd name="adj" fmla="val 22222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1525" y="4505325"/>
            <a:ext cx="174303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Show/hide company details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00559" y="4565904"/>
            <a:ext cx="133346" cy="69342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895327" y="4848225"/>
            <a:ext cx="4914777" cy="342900"/>
          </a:xfrm>
          <a:prstGeom prst="roundRect">
            <a:avLst>
              <a:gd name="adj" fmla="val 22222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1525" y="4924424"/>
            <a:ext cx="162873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Show/hide VAT on receipt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00559" y="4985004"/>
            <a:ext cx="133346" cy="69342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6191095" y="1038224"/>
            <a:ext cx="5333866" cy="2495550"/>
          </a:xfrm>
          <a:prstGeom prst="roundRect">
            <a:avLst>
              <a:gd name="adj" fmla="val 916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 Same Side Corner Rectangle 42"/>
          <p:cNvSpPr/>
          <p:nvPr/>
        </p:nvSpPr>
        <p:spPr>
          <a:xfrm rot="16200000">
            <a:off x="5009360" y="2219959"/>
            <a:ext cx="24955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419689" y="1228725"/>
            <a:ext cx="342891" cy="438149"/>
          </a:xfrm>
          <a:prstGeom prst="roundRect">
            <a:avLst>
              <a:gd name="adj" fmla="val 44444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495887" y="1362635"/>
            <a:ext cx="190495" cy="151279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876878" y="1314450"/>
            <a:ext cx="151443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Currency Settings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19689" y="1781174"/>
            <a:ext cx="491477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Default Currency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19689" y="2047874"/>
            <a:ext cx="552436" cy="342900"/>
          </a:xfrm>
          <a:prstGeom prst="roundRect">
            <a:avLst>
              <a:gd name="adj" fmla="val 22222"/>
            </a:avLst>
          </a:prstGeom>
          <a:solidFill>
            <a:srgbClr val="F0FDF4"/>
          </a:solidFill>
          <a:ln w="1651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19689" y="2047874"/>
            <a:ext cx="552436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5803D"/>
                </a:solidFill>
                <a:latin typeface="Inter"/>
                <a:rFonts ascii="Inter" hAnsi="Inter" eastAsia="Inter" cs="Inter"/>
              </a:rPr>
              <a:t>USD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048323" y="2047874"/>
            <a:ext cx="561960" cy="34290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 w="1651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048323" y="2047874"/>
            <a:ext cx="561960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4B5563"/>
                </a:solidFill>
                <a:latin typeface="Inter"/>
                <a:rFonts ascii="Inter" hAnsi="Inter" eastAsia="Inter" cs="Inter"/>
              </a:rPr>
              <a:t>ZWL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19689" y="2505074"/>
            <a:ext cx="4914777" cy="342900"/>
          </a:xfrm>
          <a:prstGeom prst="roundRect">
            <a:avLst>
              <a:gd name="adj" fmla="val 22222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95887" y="2581275"/>
            <a:ext cx="148586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Display both currencies</a:t>
            </a:r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11124921" y="2641854"/>
            <a:ext cx="133346" cy="69342"/>
          </a:xfrm>
          <a:prstGeom prst="rect">
            <a:avLst/>
          </a:prstGeom>
        </p:spPr>
      </p:pic>
      <p:sp>
        <p:nvSpPr>
          <p:cNvPr id="55" name="Rounded Rectangle 54"/>
          <p:cNvSpPr/>
          <p:nvPr/>
        </p:nvSpPr>
        <p:spPr>
          <a:xfrm>
            <a:off x="6419689" y="2962274"/>
            <a:ext cx="4914777" cy="380999"/>
          </a:xfrm>
          <a:prstGeom prst="roundRect">
            <a:avLst>
              <a:gd name="adj" fmla="val 20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95887" y="3057525"/>
            <a:ext cx="93342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Exchange Rate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553436" y="3038475"/>
            <a:ext cx="704832" cy="2286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553436" y="3038475"/>
            <a:ext cx="70483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Configure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191095" y="3686175"/>
            <a:ext cx="5333866" cy="2476499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 Same Side Corner Rectangle 59"/>
          <p:cNvSpPr/>
          <p:nvPr/>
        </p:nvSpPr>
        <p:spPr>
          <a:xfrm rot="16200000">
            <a:off x="5018886" y="4858384"/>
            <a:ext cx="24764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6419689" y="3876674"/>
            <a:ext cx="342891" cy="438149"/>
          </a:xfrm>
          <a:prstGeom prst="roundRect">
            <a:avLst>
              <a:gd name="adj" fmla="val 44444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495887" y="4016188"/>
            <a:ext cx="190495" cy="140073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6876878" y="3962399"/>
            <a:ext cx="103819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Tax Settings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419689" y="4429125"/>
            <a:ext cx="4914777" cy="419100"/>
          </a:xfrm>
          <a:prstGeom prst="roundRect">
            <a:avLst>
              <a:gd name="adj" fmla="val 18181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6495887" y="4585334"/>
            <a:ext cx="133346" cy="10668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6705432" y="4543425"/>
            <a:ext cx="102867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Default Tax Rate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0620109" y="4505325"/>
            <a:ext cx="638159" cy="266699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3B82F6"/>
              </a:gs>
              <a:gs pos="100000">
                <a:srgbClr val="1E40A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620109" y="4505325"/>
            <a:ext cx="6381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14.5%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419689" y="4924424"/>
            <a:ext cx="4914777" cy="628650"/>
          </a:xfrm>
          <a:prstGeom prst="roundRect">
            <a:avLst>
              <a:gd name="adj" fmla="val 12121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95887" y="5000625"/>
            <a:ext cx="476238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39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Pricing Type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495887" y="5248275"/>
            <a:ext cx="952476" cy="228600"/>
          </a:xfrm>
          <a:prstGeom prst="roundRect">
            <a:avLst>
              <a:gd name="adj" fmla="val 33333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495887" y="5248275"/>
            <a:ext cx="95247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Tax Inclusive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524561" y="5248275"/>
            <a:ext cx="981050" cy="228600"/>
          </a:xfrm>
          <a:prstGeom prst="roundRect">
            <a:avLst>
              <a:gd name="adj" fmla="val 33333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524561" y="5248275"/>
            <a:ext cx="98105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Tax Exclusive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419689" y="5629275"/>
            <a:ext cx="4914777" cy="342900"/>
          </a:xfrm>
          <a:prstGeom prst="roundRect">
            <a:avLst>
              <a:gd name="adj" fmla="val 22222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495887" y="5705475"/>
            <a:ext cx="199067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Tax Number display on receipts</a:t>
            </a:r>
          </a:p>
        </p:txBody>
      </p:sp>
      <p:pic>
        <p:nvPicPr>
          <p:cNvPr id="77" name="Picture 76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11124921" y="5766054"/>
            <a:ext cx="133346" cy="69342"/>
          </a:xfrm>
          <a:prstGeom prst="rect">
            <a:avLst/>
          </a:prstGeom>
        </p:spPr>
      </p:pic>
      <p:sp>
        <p:nvSpPr>
          <p:cNvPr id="78" name="Rectangle 77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1E40AF"/>
              </a:gs>
              <a:gs pos="50000">
                <a:srgbClr val="3B82F6"/>
              </a:gs>
              <a:gs pos="100000">
                <a:srgbClr val="1E40A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0E7FF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E40A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3B82F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6295867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User Management - Adding Users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96287" y="247649"/>
            <a:ext cx="1028674" cy="304800"/>
          </a:xfrm>
          <a:prstGeom prst="roundRect">
            <a:avLst>
              <a:gd name="adj" fmla="val 6249375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96287" y="247649"/>
            <a:ext cx="102867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6.3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183957"/>
            <a:ext cx="228594" cy="16573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71525" y="1114425"/>
            <a:ext cx="1971625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Add User Process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1609724"/>
            <a:ext cx="5314817" cy="6858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389873" y="1886584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57228" y="1762125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7228" y="1762125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76318" y="1781174"/>
            <a:ext cx="198115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Click Users → Add User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6733" y="2409825"/>
            <a:ext cx="5314817" cy="952499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 rot="16200000">
            <a:off x="256524" y="2820034"/>
            <a:ext cx="9524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57228" y="2562224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7228" y="2562224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76318" y="2581275"/>
            <a:ext cx="129536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Fill User Details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76318" y="2943225"/>
            <a:ext cx="914377" cy="266699"/>
          </a:xfrm>
          <a:prstGeom prst="roundRect">
            <a:avLst>
              <a:gd name="adj" fmla="val 28571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76318" y="2943225"/>
            <a:ext cx="91437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First Name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66893" y="2943225"/>
            <a:ext cx="904852" cy="266699"/>
          </a:xfrm>
          <a:prstGeom prst="roundRect">
            <a:avLst>
              <a:gd name="adj" fmla="val 28571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66893" y="2943225"/>
            <a:ext cx="90485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Last Name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38419" y="2943225"/>
            <a:ext cx="561960" cy="266699"/>
          </a:xfrm>
          <a:prstGeom prst="roundRect">
            <a:avLst>
              <a:gd name="adj" fmla="val 28571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38419" y="2943225"/>
            <a:ext cx="56196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Email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86102" y="2943225"/>
            <a:ext cx="628634" cy="266699"/>
          </a:xfrm>
          <a:prstGeom prst="roundRect">
            <a:avLst>
              <a:gd name="adj" fmla="val 28571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86102" y="2943225"/>
            <a:ext cx="62863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Phone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90935" y="2943225"/>
            <a:ext cx="876278" cy="266699"/>
          </a:xfrm>
          <a:prstGeom prst="roundRect">
            <a:avLst>
              <a:gd name="adj" fmla="val 28571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90935" y="2943225"/>
            <a:ext cx="87627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Username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6733" y="3476624"/>
            <a:ext cx="5314817" cy="6858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 rot="16200000">
            <a:off x="389873" y="3753484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57228" y="3629025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7228" y="3629025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76318" y="3648074"/>
            <a:ext cx="98105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Assign Role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6733" y="4276725"/>
            <a:ext cx="1695407" cy="761999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381090" y="4391025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81090" y="4391025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1030" y="4733925"/>
            <a:ext cx="146681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Set Password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476438" y="4276725"/>
            <a:ext cx="1695407" cy="761999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190795" y="4391025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90795" y="4391025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90735" y="4733925"/>
            <a:ext cx="146681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Send Invitation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86142" y="4276725"/>
            <a:ext cx="1695407" cy="761999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000499" y="4391025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00499" y="4391025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00439" y="4733925"/>
            <a:ext cx="146681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Save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210144" y="1178242"/>
            <a:ext cx="228594" cy="17716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514937" y="1114425"/>
            <a:ext cx="2266893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User Roles &amp; Access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10144" y="1609724"/>
            <a:ext cx="5314817" cy="647699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324441" y="1855133"/>
            <a:ext cx="190495" cy="156882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6629234" y="1724024"/>
            <a:ext cx="159063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Owner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29234" y="1952624"/>
            <a:ext cx="159063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Full access to all features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905852" y="1819275"/>
            <a:ext cx="504812" cy="2286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905852" y="1819275"/>
            <a:ext cx="50481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Admin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210144" y="2352675"/>
            <a:ext cx="5314817" cy="647699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324441" y="2603686"/>
            <a:ext cx="190495" cy="145676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629234" y="2466975"/>
            <a:ext cx="235261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Manager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29234" y="2695575"/>
            <a:ext cx="235261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Manage most settings, approve voids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905852" y="2562224"/>
            <a:ext cx="504812" cy="2286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905852" y="2562224"/>
            <a:ext cx="50481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Admin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210144" y="3095625"/>
            <a:ext cx="5314817" cy="647699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324441" y="3338232"/>
            <a:ext cx="190495" cy="162485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6629234" y="3209925"/>
            <a:ext cx="183827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Cashier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29234" y="3438525"/>
            <a:ext cx="18382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POS only, no reports/settings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953476" y="3305174"/>
            <a:ext cx="457188" cy="228600"/>
          </a:xfrm>
          <a:prstGeom prst="roundRect">
            <a:avLst>
              <a:gd name="adj" fmla="val 33333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953476" y="3305174"/>
            <a:ext cx="45718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Basic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210144" y="3838574"/>
            <a:ext cx="5314817" cy="647699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324441" y="4081182"/>
            <a:ext cx="190495" cy="162485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6629234" y="3952874"/>
            <a:ext cx="175255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Stock Clerk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29234" y="4181474"/>
            <a:ext cx="175255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Inventory management only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0953476" y="4048124"/>
            <a:ext cx="457188" cy="228600"/>
          </a:xfrm>
          <a:prstGeom prst="roundRect">
            <a:avLst>
              <a:gd name="adj" fmla="val 33333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953476" y="4048124"/>
            <a:ext cx="45718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Basic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210144" y="4581524"/>
            <a:ext cx="5314817" cy="647699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324441" y="4840941"/>
            <a:ext cx="190495" cy="128867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6629234" y="4695824"/>
            <a:ext cx="110487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Viewer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629234" y="4924424"/>
            <a:ext cx="110487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View reports only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0982050" y="4791075"/>
            <a:ext cx="428614" cy="228600"/>
          </a:xfrm>
          <a:prstGeom prst="roundRect">
            <a:avLst>
              <a:gd name="adj" fmla="val 33333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982050" y="4791075"/>
            <a:ext cx="42861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Read</a:t>
            </a:r>
          </a:p>
        </p:txBody>
      </p:sp>
      <p:sp>
        <p:nvSpPr>
          <p:cNvPr id="79" name="Rectangle 78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1E40AF"/>
              </a:gs>
              <a:gs pos="50000">
                <a:srgbClr val="3B82F6"/>
              </a:gs>
              <a:gs pos="100000">
                <a:srgbClr val="1E40A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0E7FF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E40A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5162550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3B82F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6934026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User Management - Edit &amp; Deactivate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91455" y="247649"/>
            <a:ext cx="1733506" cy="304800"/>
          </a:xfrm>
          <a:prstGeom prst="roundRect">
            <a:avLst>
              <a:gd name="adj" fmla="val 6249375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91455" y="247649"/>
            <a:ext cx="173350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6.3 Continued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190625"/>
            <a:ext cx="5276718" cy="4952999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743726" y="3601084"/>
            <a:ext cx="4952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3426" y="1419225"/>
            <a:ext cx="514337" cy="600075"/>
          </a:xfrm>
          <a:prstGeom prst="roundRect">
            <a:avLst>
              <a:gd name="adj" fmla="val 29629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47723" y="1594173"/>
            <a:ext cx="285742" cy="22160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562060" y="1466849"/>
            <a:ext cx="1990675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Editing Users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2060" y="1790700"/>
            <a:ext cx="199067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Update user information &amp; roles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3426" y="2247899"/>
            <a:ext cx="4781430" cy="800100"/>
          </a:xfrm>
          <a:prstGeom prst="roundRect">
            <a:avLst>
              <a:gd name="adj" fmla="val 19047"/>
            </a:avLst>
          </a:prstGeom>
          <a:gradFill rotWithShape="1">
            <a:gsLst>
              <a:gs pos="0">
                <a:srgbClr val="F0F7FF"/>
              </a:gs>
              <a:gs pos="100000">
                <a:srgbClr val="E0E7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85822" y="2419349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5822" y="2419349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4912" y="2400300"/>
            <a:ext cx="404802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Click on user in list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4912" y="2705099"/>
            <a:ext cx="404802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Navigate to Users and select the user profile you want to modify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3426" y="3162299"/>
            <a:ext cx="4781430" cy="895350"/>
          </a:xfrm>
          <a:prstGeom prst="roundRect">
            <a:avLst>
              <a:gd name="adj" fmla="val 17021"/>
            </a:avLst>
          </a:prstGeom>
          <a:gradFill rotWithShape="1">
            <a:gsLst>
              <a:gs pos="0">
                <a:srgbClr val="F0F7FF"/>
              </a:gs>
              <a:gs pos="100000">
                <a:srgbClr val="E0E7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85822" y="3333749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85822" y="3333749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4912" y="3314700"/>
            <a:ext cx="309554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Update information or role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504912" y="3657600"/>
            <a:ext cx="866753" cy="247649"/>
          </a:xfrm>
          <a:prstGeom prst="roundRect">
            <a:avLst>
              <a:gd name="adj" fmla="val 76915384"/>
            </a:avLst>
          </a:prstGeom>
          <a:solidFill>
            <a:srgbClr val="FFFFFF"/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04912" y="3657600"/>
            <a:ext cx="866753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Edit Details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47863" y="3657600"/>
            <a:ext cx="942951" cy="247649"/>
          </a:xfrm>
          <a:prstGeom prst="roundRect">
            <a:avLst>
              <a:gd name="adj" fmla="val 76915384"/>
            </a:avLst>
          </a:prstGeom>
          <a:solidFill>
            <a:srgbClr val="FFFFFF"/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47863" y="3657600"/>
            <a:ext cx="94295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Change Role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67013" y="3657600"/>
            <a:ext cx="1133446" cy="247649"/>
          </a:xfrm>
          <a:prstGeom prst="roundRect">
            <a:avLst>
              <a:gd name="adj" fmla="val 76915384"/>
            </a:avLst>
          </a:prstGeom>
          <a:solidFill>
            <a:srgbClr val="FFFFFF"/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67013" y="3657600"/>
            <a:ext cx="1133446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Reset Password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3426" y="4171950"/>
            <a:ext cx="4781430" cy="800100"/>
          </a:xfrm>
          <a:prstGeom prst="roundRect">
            <a:avLst>
              <a:gd name="adj" fmla="val 19047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85822" y="4343400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5822" y="4343400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4912" y="4324349"/>
            <a:ext cx="399087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Click Save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4912" y="4629150"/>
            <a:ext cx="399087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Changes are applied immediately and user receives notification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33426" y="5124449"/>
            <a:ext cx="4781430" cy="514350"/>
          </a:xfrm>
          <a:prstGeom prst="roundRect">
            <a:avLst>
              <a:gd name="adj" fmla="val 29629"/>
            </a:avLst>
          </a:prstGeom>
          <a:solidFill>
            <a:srgbClr val="EFF6FF"/>
          </a:solidFill>
          <a:ln w="825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57248" y="5306961"/>
            <a:ext cx="171445" cy="149327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304892" y="5286375"/>
            <a:ext cx="279075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Note: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Role changes take effect on next login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48243" y="1190625"/>
            <a:ext cx="5276718" cy="5495924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 Same Side Corner Rectangle 37"/>
          <p:cNvSpPr/>
          <p:nvPr/>
        </p:nvSpPr>
        <p:spPr>
          <a:xfrm rot="16200000">
            <a:off x="3566321" y="3872547"/>
            <a:ext cx="54959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514937" y="1419225"/>
            <a:ext cx="514337" cy="600075"/>
          </a:xfrm>
          <a:prstGeom prst="roundRect">
            <a:avLst>
              <a:gd name="adj" fmla="val 29629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629234" y="1602921"/>
            <a:ext cx="285742" cy="204107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143571" y="1466849"/>
            <a:ext cx="2124021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Deactivating Users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43571" y="1790700"/>
            <a:ext cx="212402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Revoke user access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14937" y="2247899"/>
            <a:ext cx="4781430" cy="800100"/>
          </a:xfrm>
          <a:prstGeom prst="roundRect">
            <a:avLst>
              <a:gd name="adj" fmla="val 19047"/>
            </a:avLst>
          </a:prstGeom>
          <a:gradFill rotWithShape="1">
            <a:gsLst>
              <a:gs pos="0">
                <a:srgbClr val="F0F7FF"/>
              </a:gs>
              <a:gs pos="100000">
                <a:srgbClr val="E0E7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667333" y="2419349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67333" y="2419349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86422" y="2400300"/>
            <a:ext cx="386705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Find user in list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86422" y="2705099"/>
            <a:ext cx="386705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Search or browse through the Users list to locate the account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514937" y="3162299"/>
            <a:ext cx="4781430" cy="800100"/>
          </a:xfrm>
          <a:prstGeom prst="roundRect">
            <a:avLst>
              <a:gd name="adj" fmla="val 19047"/>
            </a:avLst>
          </a:prstGeom>
          <a:gradFill rotWithShape="1">
            <a:gsLst>
              <a:gs pos="0">
                <a:srgbClr val="F0F7FF"/>
              </a:gs>
              <a:gs pos="100000">
                <a:srgbClr val="E0E7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667333" y="3333749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67333" y="3333749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86422" y="3314700"/>
            <a:ext cx="340033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Click Deactivate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86422" y="3619499"/>
            <a:ext cx="34003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Select the deactivation option from user actions menu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514937" y="4076699"/>
            <a:ext cx="4781430" cy="800100"/>
          </a:xfrm>
          <a:prstGeom prst="roundRect">
            <a:avLst>
              <a:gd name="adj" fmla="val 19047"/>
            </a:avLst>
          </a:prstGeom>
          <a:gradFill rotWithShape="1">
            <a:gsLst>
              <a:gs pos="0">
                <a:srgbClr val="F0F7FF"/>
              </a:gs>
              <a:gs pos="100000">
                <a:srgbClr val="E0E7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667333" y="4248150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67333" y="4248150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86422" y="4229100"/>
            <a:ext cx="281932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Confirm action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86422" y="4533900"/>
            <a:ext cx="281932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Verify deactivation in the confirmation dialog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514937" y="4991100"/>
            <a:ext cx="4781430" cy="800100"/>
          </a:xfrm>
          <a:prstGeom prst="roundRect">
            <a:avLst>
              <a:gd name="adj" fmla="val 19047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667333" y="5162550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67333" y="5162550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086422" y="5143500"/>
            <a:ext cx="367655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User can no longer log in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86422" y="5448300"/>
            <a:ext cx="367655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Access is immediately revoked while retaining user history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514937" y="5943600"/>
            <a:ext cx="4781430" cy="514350"/>
          </a:xfrm>
          <a:prstGeom prst="roundRect">
            <a:avLst>
              <a:gd name="adj" fmla="val 29629"/>
            </a:avLst>
          </a:prstGeom>
          <a:solidFill>
            <a:srgbClr val="FFFBEB"/>
          </a:solidFill>
          <a:ln w="8255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638759" y="6128876"/>
            <a:ext cx="171445" cy="143796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6886402" y="6105525"/>
            <a:ext cx="229546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Important: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Deactivation is reversible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0" y="6991350"/>
            <a:ext cx="12191695" cy="76200"/>
          </a:xfrm>
          <a:prstGeom prst="rect">
            <a:avLst/>
          </a:prstGeom>
          <a:gradFill rotWithShape="1">
            <a:gsLst>
              <a:gs pos="0">
                <a:srgbClr val="1E40AF"/>
              </a:gs>
              <a:gs pos="50000">
                <a:srgbClr val="3B82F6"/>
              </a:gs>
              <a:gs pos="100000">
                <a:srgbClr val="1E40A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0E7FF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E40A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5419725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3B82F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3714657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Permission Settings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86762" y="247649"/>
            <a:ext cx="1038199" cy="304800"/>
          </a:xfrm>
          <a:prstGeom prst="roundRect">
            <a:avLst>
              <a:gd name="adj" fmla="val 6249375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86762" y="247649"/>
            <a:ext cx="103819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6.4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38224"/>
            <a:ext cx="4228994" cy="514350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95327" y="1330642"/>
            <a:ext cx="228594" cy="1771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38219" y="1266824"/>
            <a:ext cx="207639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Customizing Roles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5327" y="1762125"/>
            <a:ext cx="3771805" cy="800100"/>
          </a:xfrm>
          <a:prstGeom prst="roundRect">
            <a:avLst>
              <a:gd name="adj" fmla="val 19047"/>
            </a:avLst>
          </a:prstGeom>
          <a:gradFill rotWithShape="1">
            <a:gsLst>
              <a:gs pos="0">
                <a:srgbClr val="EFF6FF"/>
              </a:gs>
              <a:gs pos="100000">
                <a:srgbClr val="FAF5F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561317" y="2096135"/>
            <a:ext cx="8001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85822" y="1933574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5822" y="1933574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4912" y="1914525"/>
            <a:ext cx="274313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Click Roles &amp; Permissions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4912" y="2219324"/>
            <a:ext cx="274313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Navigate to Settings → Roles &amp; Permissions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5327" y="2714625"/>
            <a:ext cx="3771805" cy="800100"/>
          </a:xfrm>
          <a:prstGeom prst="roundRect">
            <a:avLst>
              <a:gd name="adj" fmla="val 19047"/>
            </a:avLst>
          </a:prstGeom>
          <a:gradFill rotWithShape="1">
            <a:gsLst>
              <a:gs pos="0">
                <a:srgbClr val="EFF6FF"/>
              </a:gs>
              <a:gs pos="100000">
                <a:srgbClr val="FAF5F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 rot="16200000">
            <a:off x="561317" y="3048635"/>
            <a:ext cx="8001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85822" y="2886075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5822" y="2886075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4912" y="2867025"/>
            <a:ext cx="275265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Select Role to Edit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4912" y="3171825"/>
            <a:ext cx="275265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Choose from Owner, Manager, Cashier, etc.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5327" y="3667124"/>
            <a:ext cx="3771805" cy="990599"/>
          </a:xfrm>
          <a:prstGeom prst="roundRect">
            <a:avLst>
              <a:gd name="adj" fmla="val 15384"/>
            </a:avLst>
          </a:prstGeom>
          <a:gradFill rotWithShape="1">
            <a:gsLst>
              <a:gs pos="0">
                <a:srgbClr val="EFF6FF"/>
              </a:gs>
              <a:gs pos="100000">
                <a:srgbClr val="FAF5F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 Same Side Corner Rectangle 23"/>
          <p:cNvSpPr/>
          <p:nvPr/>
        </p:nvSpPr>
        <p:spPr>
          <a:xfrm rot="16200000">
            <a:off x="466068" y="4096383"/>
            <a:ext cx="9905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85822" y="3838574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85822" y="3838574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4912" y="3819524"/>
            <a:ext cx="300982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Check/Uncheck Permissions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4912" y="4124324"/>
            <a:ext cx="3009824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Enable or disable specific permissions for each category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5327" y="4810124"/>
            <a:ext cx="3771805" cy="800100"/>
          </a:xfrm>
          <a:prstGeom prst="roundRect">
            <a:avLst>
              <a:gd name="adj" fmla="val 19047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 Same Side Corner Rectangle 29"/>
          <p:cNvSpPr/>
          <p:nvPr/>
        </p:nvSpPr>
        <p:spPr>
          <a:xfrm rot="16200000">
            <a:off x="561317" y="5144134"/>
            <a:ext cx="8001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85822" y="4981574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85822" y="4981574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4912" y="4962525"/>
            <a:ext cx="173350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Click Save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04912" y="5267324"/>
            <a:ext cx="173350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Apply changes immediately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86222" y="1038224"/>
            <a:ext cx="6438739" cy="1181099"/>
          </a:xfrm>
          <a:prstGeom prst="roundRect">
            <a:avLst>
              <a:gd name="adj" fmla="val 1935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 rot="16200000">
            <a:off x="4561713" y="1562733"/>
            <a:ext cx="11810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276718" y="1242732"/>
            <a:ext cx="190495" cy="162485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543411" y="1209674"/>
            <a:ext cx="126679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POS Permissions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543411" y="1533525"/>
            <a:ext cx="952476" cy="2286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543411" y="1533525"/>
            <a:ext cx="95247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Process sales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72085" y="1533525"/>
            <a:ext cx="1085822" cy="2286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72085" y="1533525"/>
            <a:ext cx="108582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Apply discounts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34106" y="1533525"/>
            <a:ext cx="1152496" cy="2286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34106" y="1533525"/>
            <a:ext cx="115249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Void transactions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962800" y="1533525"/>
            <a:ext cx="1066773" cy="2286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62800" y="1533525"/>
            <a:ext cx="106677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Process returns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543411" y="1838324"/>
            <a:ext cx="1342991" cy="2286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543411" y="1838324"/>
            <a:ext cx="134299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Access without login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086222" y="2333624"/>
            <a:ext cx="6438739" cy="1181099"/>
          </a:xfrm>
          <a:prstGeom prst="roundRect">
            <a:avLst>
              <a:gd name="adj" fmla="val 1935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 Same Side Corner Rectangle 49"/>
          <p:cNvSpPr/>
          <p:nvPr/>
        </p:nvSpPr>
        <p:spPr>
          <a:xfrm rot="16200000">
            <a:off x="4561713" y="2858133"/>
            <a:ext cx="11810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276718" y="2538132"/>
            <a:ext cx="190495" cy="162485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5543411" y="2505074"/>
            <a:ext cx="166683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Inventory Permissions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543411" y="2828925"/>
            <a:ext cx="990575" cy="2286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543411" y="2828925"/>
            <a:ext cx="99057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View products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610184" y="2828925"/>
            <a:ext cx="933426" cy="2286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10184" y="2828925"/>
            <a:ext cx="93342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Add products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619809" y="2828925"/>
            <a:ext cx="923901" cy="2286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619809" y="2828925"/>
            <a:ext cx="92390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Edit products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619909" y="2828925"/>
            <a:ext cx="1066773" cy="2286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19909" y="2828925"/>
            <a:ext cx="106677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Delete products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762880" y="2828925"/>
            <a:ext cx="876278" cy="2286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62880" y="2828925"/>
            <a:ext cx="87627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Adjust stock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543411" y="3133724"/>
            <a:ext cx="952476" cy="2286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543411" y="3133724"/>
            <a:ext cx="95247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Import/export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086222" y="3629025"/>
            <a:ext cx="6438739" cy="1181099"/>
          </a:xfrm>
          <a:prstGeom prst="roundRect">
            <a:avLst>
              <a:gd name="adj" fmla="val 1935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 Same Side Corner Rectangle 65"/>
          <p:cNvSpPr/>
          <p:nvPr/>
        </p:nvSpPr>
        <p:spPr>
          <a:xfrm rot="16200000">
            <a:off x="4561713" y="4153534"/>
            <a:ext cx="11810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276718" y="3861547"/>
            <a:ext cx="190495" cy="106455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5543411" y="3800475"/>
            <a:ext cx="168588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Customer Permissions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543411" y="4124324"/>
            <a:ext cx="1085822" cy="2286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543411" y="4124324"/>
            <a:ext cx="108582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View customers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705432" y="4124324"/>
            <a:ext cx="1028674" cy="2286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705432" y="4124324"/>
            <a:ext cx="102867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Add customers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810304" y="4124324"/>
            <a:ext cx="1019149" cy="2286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810304" y="4124324"/>
            <a:ext cx="101914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Edit customers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896127" y="4124324"/>
            <a:ext cx="1162020" cy="2286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896127" y="4124324"/>
            <a:ext cx="116202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Delete customers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543411" y="4429125"/>
            <a:ext cx="1419189" cy="2286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543411" y="4429125"/>
            <a:ext cx="141918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Send communications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086222" y="4924424"/>
            <a:ext cx="6438739" cy="1181099"/>
          </a:xfrm>
          <a:prstGeom prst="roundRect">
            <a:avLst>
              <a:gd name="adj" fmla="val 1935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 Same Side Corner Rectangle 79"/>
          <p:cNvSpPr/>
          <p:nvPr/>
        </p:nvSpPr>
        <p:spPr>
          <a:xfrm rot="16200000">
            <a:off x="4561713" y="5448933"/>
            <a:ext cx="11810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1" name="Picture 8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276718" y="5134535"/>
            <a:ext cx="190495" cy="151279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5543411" y="5095874"/>
            <a:ext cx="153348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Reports Permissions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543411" y="5419725"/>
            <a:ext cx="1209644" cy="2286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543411" y="5419725"/>
            <a:ext cx="120964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View sales reports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829254" y="5419725"/>
            <a:ext cx="1447763" cy="2286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829254" y="5419725"/>
            <a:ext cx="144776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View inventory reports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8353216" y="5419725"/>
            <a:ext cx="1447763" cy="2286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353216" y="5419725"/>
            <a:ext cx="144776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View customer reports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9877178" y="5419725"/>
            <a:ext cx="1400139" cy="2286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877178" y="5419725"/>
            <a:ext cx="140013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View financial reports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5543411" y="5724524"/>
            <a:ext cx="981050" cy="2286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543411" y="5724524"/>
            <a:ext cx="98105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Export reports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5086222" y="6219825"/>
            <a:ext cx="6438739" cy="876299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 Same Side Corner Rectangle 93"/>
          <p:cNvSpPr/>
          <p:nvPr/>
        </p:nvSpPr>
        <p:spPr>
          <a:xfrm rot="16200000">
            <a:off x="4714113" y="6591934"/>
            <a:ext cx="8762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5" name="Picture 94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276718" y="6424332"/>
            <a:ext cx="190495" cy="162485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5543411" y="6391275"/>
            <a:ext cx="157158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Settings Permissions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5543411" y="6715125"/>
            <a:ext cx="962000" cy="2286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543411" y="6715125"/>
            <a:ext cx="96200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Store settings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6581610" y="6715125"/>
            <a:ext cx="1200119" cy="2286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581610" y="6715125"/>
            <a:ext cx="120011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User management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7857928" y="6715125"/>
            <a:ext cx="1371565" cy="2286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857928" y="6715125"/>
            <a:ext cx="137156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System configuration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9305692" y="6715125"/>
            <a:ext cx="1066773" cy="2286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305692" y="6715125"/>
            <a:ext cx="106677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Backup/Restore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0" y="7248525"/>
            <a:ext cx="12191695" cy="76200"/>
          </a:xfrm>
          <a:prstGeom prst="rect">
            <a:avLst/>
          </a:prstGeom>
          <a:gradFill rotWithShape="1">
            <a:gsLst>
              <a:gs pos="0">
                <a:srgbClr val="1E40AF"/>
              </a:gs>
              <a:gs pos="50000">
                <a:srgbClr val="3B82F6"/>
              </a:gs>
              <a:gs pos="100000">
                <a:srgbClr val="1E40A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0E7FF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E40A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5324474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3B82F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4476638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Hardware Configuration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96287" y="247649"/>
            <a:ext cx="1028674" cy="304800"/>
          </a:xfrm>
          <a:prstGeom prst="roundRect">
            <a:avLst>
              <a:gd name="adj" fmla="val 6249375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96287" y="247649"/>
            <a:ext cx="102867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6.5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38224"/>
            <a:ext cx="5314817" cy="5962650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6733" y="1038224"/>
            <a:ext cx="5314817" cy="78105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1D4ED8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9129" y="1190625"/>
            <a:ext cx="380990" cy="476249"/>
          </a:xfrm>
          <a:prstGeom prst="roundRect">
            <a:avLst>
              <a:gd name="adj" fmla="val 4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95327" y="1330642"/>
            <a:ext cx="228594" cy="1771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14417" y="1200150"/>
            <a:ext cx="256216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Printer Setup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4417" y="1466849"/>
            <a:ext cx="256216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BEAFE"/>
                </a:solidFill>
                <a:latin typeface="Inter"/>
                <a:rFonts ascii="Inter" hAnsi="Inter" eastAsia="Inter" cs="Inter"/>
              </a:rPr>
              <a:t>Configure receipt and document printers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7228" y="2009774"/>
            <a:ext cx="4933826" cy="514350"/>
          </a:xfrm>
          <a:prstGeom prst="roundRect">
            <a:avLst>
              <a:gd name="adj" fmla="val 29629"/>
            </a:avLst>
          </a:prstGeom>
          <a:gradFill rotWithShape="1">
            <a:gsLst>
              <a:gs pos="0">
                <a:srgbClr val="F0F7FF"/>
              </a:gs>
              <a:gs pos="100000">
                <a:srgbClr val="E8F0FE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71525" y="2143125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1525" y="2143125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2516" y="2124075"/>
            <a:ext cx="301934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Click Hardware → Printers → Add Printer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228" y="2638425"/>
            <a:ext cx="4933826" cy="819149"/>
          </a:xfrm>
          <a:prstGeom prst="roundRect">
            <a:avLst>
              <a:gd name="adj" fmla="val 18604"/>
            </a:avLst>
          </a:prstGeom>
          <a:gradFill rotWithShape="1">
            <a:gsLst>
              <a:gs pos="0">
                <a:srgbClr val="F0F7FF"/>
              </a:gs>
              <a:gs pos="100000">
                <a:srgbClr val="E8F0FE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71525" y="2771775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1525" y="2771775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2516" y="2752725"/>
            <a:ext cx="432424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Choose Printer Type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52516" y="3057525"/>
            <a:ext cx="1304892" cy="28575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 w="825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52516" y="3057525"/>
            <a:ext cx="1304892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Thermal Receipt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33606" y="3057525"/>
            <a:ext cx="904852" cy="28575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 w="825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33606" y="3057525"/>
            <a:ext cx="904852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A4 Printer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7228" y="3571875"/>
            <a:ext cx="4933826" cy="1104900"/>
          </a:xfrm>
          <a:prstGeom prst="roundRect">
            <a:avLst>
              <a:gd name="adj" fmla="val 13793"/>
            </a:avLst>
          </a:prstGeom>
          <a:gradFill rotWithShape="1">
            <a:gsLst>
              <a:gs pos="0">
                <a:srgbClr val="F0F7FF"/>
              </a:gs>
              <a:gs pos="100000">
                <a:srgbClr val="E8F0FE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71525" y="3705224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1525" y="3705224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52516" y="3686175"/>
            <a:ext cx="432424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Select Connection Type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52516" y="3990974"/>
            <a:ext cx="2124021" cy="247649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825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52516" y="3990974"/>
            <a:ext cx="212402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USB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52736" y="3990974"/>
            <a:ext cx="2124021" cy="247649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825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52736" y="3990974"/>
            <a:ext cx="212402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Bluetooth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352516" y="4314825"/>
            <a:ext cx="2124021" cy="247649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825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52516" y="4314825"/>
            <a:ext cx="212402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WiFi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552736" y="4314825"/>
            <a:ext cx="2124021" cy="247649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825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52736" y="4314825"/>
            <a:ext cx="212402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Network (IP)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57228" y="4791075"/>
            <a:ext cx="4933826" cy="514350"/>
          </a:xfrm>
          <a:prstGeom prst="roundRect">
            <a:avLst>
              <a:gd name="adj" fmla="val 29629"/>
            </a:avLst>
          </a:prstGeom>
          <a:gradFill rotWithShape="1">
            <a:gsLst>
              <a:gs pos="0">
                <a:srgbClr val="F0F7FF"/>
              </a:gs>
              <a:gs pos="100000">
                <a:srgbClr val="E8F0FE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71525" y="4924424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1525" y="4924424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52516" y="4905375"/>
            <a:ext cx="121916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Test Connection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57228" y="5419725"/>
            <a:ext cx="4933826" cy="761999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F0F7FF"/>
              </a:gs>
              <a:gs pos="100000">
                <a:srgbClr val="E8F0FE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71525" y="5553074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1525" y="5553074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52516" y="5534025"/>
            <a:ext cx="432424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Assign Functions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352516" y="5838824"/>
            <a:ext cx="1066773" cy="2286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352516" y="5838824"/>
            <a:ext cx="106677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Receipt printing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495487" y="5838824"/>
            <a:ext cx="962000" cy="2286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495487" y="5838824"/>
            <a:ext cx="96200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Order printing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533686" y="5838824"/>
            <a:ext cx="1019149" cy="2286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533686" y="5838824"/>
            <a:ext cx="101914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Report printing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57228" y="6296024"/>
            <a:ext cx="4933826" cy="514350"/>
          </a:xfrm>
          <a:prstGeom prst="roundRect">
            <a:avLst>
              <a:gd name="adj" fmla="val 29629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71525" y="6429375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71525" y="6429375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352516" y="6410324"/>
            <a:ext cx="77150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Click Save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10144" y="1038224"/>
            <a:ext cx="5314817" cy="527685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210144" y="1038224"/>
            <a:ext cx="5314817" cy="781050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9333EA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6362540" y="1190625"/>
            <a:ext cx="380990" cy="476249"/>
          </a:xfrm>
          <a:prstGeom prst="roundRect">
            <a:avLst>
              <a:gd name="adj" fmla="val 4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438739" y="1322070"/>
            <a:ext cx="228594" cy="194309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6857828" y="1200150"/>
            <a:ext cx="180017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Scanner Setup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57828" y="1466849"/>
            <a:ext cx="18001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3E8FF"/>
                </a:solidFill>
                <a:latin typeface="Inter"/>
                <a:rFonts ascii="Inter" hAnsi="Inter" eastAsia="Inter" cs="Inter"/>
              </a:rPr>
              <a:t>Configure barcode scanners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00639" y="2009774"/>
            <a:ext cx="4933826" cy="514350"/>
          </a:xfrm>
          <a:prstGeom prst="roundRect">
            <a:avLst>
              <a:gd name="adj" fmla="val 29629"/>
            </a:avLst>
          </a:prstGeom>
          <a:gradFill rotWithShape="1">
            <a:gsLst>
              <a:gs pos="0">
                <a:srgbClr val="F0F7FF"/>
              </a:gs>
              <a:gs pos="100000">
                <a:srgbClr val="E8F0FE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6514937" y="2143125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514937" y="2143125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95927" y="2124075"/>
            <a:ext cx="324794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Click Hardware → Scanners → Add Scanner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400639" y="2638425"/>
            <a:ext cx="4933826" cy="781050"/>
          </a:xfrm>
          <a:prstGeom prst="roundRect">
            <a:avLst>
              <a:gd name="adj" fmla="val 19512"/>
            </a:avLst>
          </a:prstGeom>
          <a:gradFill rotWithShape="1">
            <a:gsLst>
              <a:gs pos="0">
                <a:srgbClr val="F0F7FF"/>
              </a:gs>
              <a:gs pos="100000">
                <a:srgbClr val="E8F0FE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6514937" y="2771775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514937" y="2771775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95927" y="2752725"/>
            <a:ext cx="432424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Select Connection Type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895927" y="3057525"/>
            <a:ext cx="1390615" cy="247649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825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895927" y="3057525"/>
            <a:ext cx="1390615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USB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362740" y="3057525"/>
            <a:ext cx="1390615" cy="247649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825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362740" y="3057525"/>
            <a:ext cx="1390615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Bluetooth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829554" y="3057525"/>
            <a:ext cx="1390615" cy="247649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825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829554" y="3057525"/>
            <a:ext cx="1390615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WiFi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400639" y="3533774"/>
            <a:ext cx="4933826" cy="514350"/>
          </a:xfrm>
          <a:prstGeom prst="roundRect">
            <a:avLst>
              <a:gd name="adj" fmla="val 29629"/>
            </a:avLst>
          </a:prstGeom>
          <a:gradFill rotWithShape="1">
            <a:gsLst>
              <a:gs pos="0">
                <a:srgbClr val="F0F7FF"/>
              </a:gs>
              <a:gs pos="100000">
                <a:srgbClr val="E8F0FE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6514937" y="3667124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514937" y="3667124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95927" y="3648074"/>
            <a:ext cx="268598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Test scanner by scanning a barcode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400639" y="4162424"/>
            <a:ext cx="4933826" cy="514350"/>
          </a:xfrm>
          <a:prstGeom prst="roundRect">
            <a:avLst>
              <a:gd name="adj" fmla="val 29629"/>
            </a:avLst>
          </a:prstGeom>
          <a:gradFill rotWithShape="1">
            <a:gsLst>
              <a:gs pos="0">
                <a:srgbClr val="F0F7FF"/>
              </a:gs>
              <a:gs pos="100000">
                <a:srgbClr val="E8F0FE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6514937" y="4295774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514937" y="4295774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895927" y="4276725"/>
            <a:ext cx="226689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Assign scanner to workstation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400639" y="4791075"/>
            <a:ext cx="4933826" cy="514350"/>
          </a:xfrm>
          <a:prstGeom prst="roundRect">
            <a:avLst>
              <a:gd name="adj" fmla="val 29629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6514937" y="4924424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514937" y="4924424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895927" y="4905375"/>
            <a:ext cx="77150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Click Save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400639" y="5419725"/>
            <a:ext cx="4933826" cy="704849"/>
          </a:xfrm>
          <a:prstGeom prst="roundRect">
            <a:avLst>
              <a:gd name="adj" fmla="val 21621"/>
            </a:avLst>
          </a:prstGeom>
          <a:solidFill>
            <a:srgbClr val="EFF6FF"/>
          </a:solidFill>
          <a:ln w="825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9" name="Picture 8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562560" y="5659386"/>
            <a:ext cx="171445" cy="149327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6810204" y="5581649"/>
            <a:ext cx="4362340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Note: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USB scanners are plug-and-play. Bluetooth and WiFi require initial pairing configuration.</a:t>
            </a:r>
          </a:p>
        </p:txBody>
      </p:sp>
      <p:sp>
        <p:nvSpPr>
          <p:cNvPr id="91" name="Rectangle 90"/>
          <p:cNvSpPr/>
          <p:nvPr/>
        </p:nvSpPr>
        <p:spPr>
          <a:xfrm>
            <a:off x="0" y="7153274"/>
            <a:ext cx="12191695" cy="76200"/>
          </a:xfrm>
          <a:prstGeom prst="rect">
            <a:avLst/>
          </a:prstGeom>
          <a:gradFill rotWithShape="1">
            <a:gsLst>
              <a:gs pos="0">
                <a:srgbClr val="1E40AF"/>
              </a:gs>
              <a:gs pos="50000">
                <a:srgbClr val="3B82F6"/>
              </a:gs>
              <a:gs pos="100000">
                <a:srgbClr val="1E40A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0E7FF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E40A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5819775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3B82F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721976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Hardware Configuration - Cash Drawer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96287" y="247649"/>
            <a:ext cx="1028674" cy="304800"/>
          </a:xfrm>
          <a:prstGeom prst="roundRect">
            <a:avLst>
              <a:gd name="adj" fmla="val 6249375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96287" y="247649"/>
            <a:ext cx="102867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6.5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114425"/>
            <a:ext cx="5276718" cy="550545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5327" y="1343025"/>
            <a:ext cx="457188" cy="552450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2563EB"/>
              </a:gs>
              <a:gs pos="100000">
                <a:srgbClr val="9333EA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09624" y="1512570"/>
            <a:ext cx="228594" cy="19430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66813" y="1362075"/>
            <a:ext cx="242881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Cash Drawer Setup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6813" y="1685925"/>
            <a:ext cx="242881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Configure payment drawer connection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5327" y="2124075"/>
            <a:ext cx="4819529" cy="761999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EFF6FF"/>
              </a:gs>
              <a:gs pos="100000">
                <a:srgbClr val="FAF5F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47723" y="2295525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7723" y="2295525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6813" y="2276474"/>
            <a:ext cx="240023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Click Hardware → Cash Drawers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6813" y="2543175"/>
            <a:ext cx="24002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Navigate to cash drawer settings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5327" y="3000375"/>
            <a:ext cx="4819529" cy="761999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EFF6FF"/>
              </a:gs>
              <a:gs pos="100000">
                <a:srgbClr val="FAF5F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47723" y="3171825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7723" y="3171825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6813" y="3152775"/>
            <a:ext cx="195257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Click "Add Cash Drawer"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6813" y="3419474"/>
            <a:ext cx="195257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Start new drawer configuration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5327" y="3876674"/>
            <a:ext cx="4819529" cy="761999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EFF6FF"/>
              </a:gs>
              <a:gs pos="100000">
                <a:srgbClr val="FAF5F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47723" y="4048124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7723" y="4048124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6813" y="4029075"/>
            <a:ext cx="191447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Select Connection Type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6813" y="4295774"/>
            <a:ext cx="191447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Choose from available options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5327" y="4752974"/>
            <a:ext cx="4819529" cy="761999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EFF6FF"/>
              </a:gs>
              <a:gs pos="100000">
                <a:srgbClr val="FAF5F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47723" y="4924424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7723" y="4924424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6813" y="4905375"/>
            <a:ext cx="183827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Test Opening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6813" y="5172075"/>
            <a:ext cx="18382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Verify drawer opens properly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5327" y="5629275"/>
            <a:ext cx="4819529" cy="761999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47723" y="5800725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7723" y="5800725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66813" y="5781674"/>
            <a:ext cx="147633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Click Save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66813" y="6048375"/>
            <a:ext cx="147633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Configuration complete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48243" y="1114425"/>
            <a:ext cx="5276718" cy="630555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476838" y="1406842"/>
            <a:ext cx="228594" cy="177164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781630" y="1343025"/>
            <a:ext cx="202877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Connection Types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76838" y="1876424"/>
            <a:ext cx="4819529" cy="14287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 Same Side Corner Rectangle 41"/>
          <p:cNvSpPr/>
          <p:nvPr/>
        </p:nvSpPr>
        <p:spPr>
          <a:xfrm rot="16200000">
            <a:off x="5828503" y="2524759"/>
            <a:ext cx="14287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705432" y="2066924"/>
            <a:ext cx="380990" cy="476249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781630" y="2206942"/>
            <a:ext cx="228594" cy="177164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7200719" y="2095499"/>
            <a:ext cx="173350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Connected to Printer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00719" y="2362199"/>
            <a:ext cx="173350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Most common setup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705432" y="2657475"/>
            <a:ext cx="4400439" cy="4572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819729" y="2820760"/>
            <a:ext cx="152396" cy="130628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7048323" y="2790824"/>
            <a:ext cx="141918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RJ12 cable connection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76838" y="3457575"/>
            <a:ext cx="4819529" cy="14287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 Same Side Corner Rectangle 50"/>
          <p:cNvSpPr/>
          <p:nvPr/>
        </p:nvSpPr>
        <p:spPr>
          <a:xfrm rot="16200000">
            <a:off x="5828503" y="4105910"/>
            <a:ext cx="14287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705432" y="3648074"/>
            <a:ext cx="380990" cy="476249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781630" y="3772376"/>
            <a:ext cx="228594" cy="208597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7200719" y="3676649"/>
            <a:ext cx="150491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USB Direct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00719" y="3943350"/>
            <a:ext cx="150491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Direct computer connection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705432" y="4238624"/>
            <a:ext cx="4400439" cy="4572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819729" y="4401910"/>
            <a:ext cx="152396" cy="130628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7048323" y="4371975"/>
            <a:ext cx="145728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USB cable to computer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476838" y="5038724"/>
            <a:ext cx="4819529" cy="14287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 Same Side Corner Rectangle 59"/>
          <p:cNvSpPr/>
          <p:nvPr/>
        </p:nvSpPr>
        <p:spPr>
          <a:xfrm rot="16200000">
            <a:off x="5828503" y="5687059"/>
            <a:ext cx="14287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6705432" y="5229225"/>
            <a:ext cx="380990" cy="476249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781630" y="5360669"/>
            <a:ext cx="228594" cy="194309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7200719" y="5257800"/>
            <a:ext cx="109534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Bluetooth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200719" y="5524499"/>
            <a:ext cx="109534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Wireless connection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705432" y="5819775"/>
            <a:ext cx="4400439" cy="4572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819729" y="5983060"/>
            <a:ext cx="152396" cy="130628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7048323" y="5953124"/>
            <a:ext cx="163825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Pair via Bluetooth settings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476838" y="6657975"/>
            <a:ext cx="4819529" cy="533399"/>
          </a:xfrm>
          <a:prstGeom prst="roundRect">
            <a:avLst>
              <a:gd name="adj" fmla="val 28571"/>
            </a:avLst>
          </a:prstGeom>
          <a:solidFill>
            <a:srgbClr val="FFFBEB"/>
          </a:solidFill>
          <a:ln w="8255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600659" y="6859536"/>
            <a:ext cx="171445" cy="149327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6848303" y="6781799"/>
            <a:ext cx="395277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Tip: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Test drawer opening before saving to ensure proper setup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7648574"/>
            <a:ext cx="12191695" cy="76200"/>
          </a:xfrm>
          <a:prstGeom prst="rect">
            <a:avLst/>
          </a:prstGeom>
          <a:gradFill rotWithShape="1">
            <a:gsLst>
              <a:gs pos="0">
                <a:srgbClr val="1E40AF"/>
              </a:gs>
              <a:gs pos="50000">
                <a:srgbClr val="3B82F6"/>
              </a:gs>
              <a:gs pos="100000">
                <a:srgbClr val="1E40A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0E7FF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E40A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3B82F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3257468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Backup &amp; Restore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96287" y="247649"/>
            <a:ext cx="1028674" cy="304800"/>
          </a:xfrm>
          <a:prstGeom prst="roundRect">
            <a:avLst>
              <a:gd name="adj" fmla="val 6249375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96287" y="247649"/>
            <a:ext cx="102867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6.6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38224"/>
            <a:ext cx="3495587" cy="5143500"/>
          </a:xfrm>
          <a:prstGeom prst="roundRect">
            <a:avLst>
              <a:gd name="adj" fmla="val 653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6733" y="1038224"/>
            <a:ext cx="3495587" cy="78105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1D4ED8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9129" y="1190625"/>
            <a:ext cx="380990" cy="476249"/>
          </a:xfrm>
          <a:prstGeom prst="roundRect">
            <a:avLst>
              <a:gd name="adj" fmla="val 4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95327" y="1336357"/>
            <a:ext cx="228594" cy="16573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14417" y="1219200"/>
            <a:ext cx="142871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Manual Backup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4417" y="1485900"/>
            <a:ext cx="142871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DBEAFE"/>
                </a:solidFill>
                <a:latin typeface="Inter"/>
                <a:rFonts ascii="Inter" hAnsi="Inter" eastAsia="Inter" cs="Inter"/>
              </a:rPr>
              <a:t>Create backup now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9129" y="1971675"/>
            <a:ext cx="3190795" cy="514350"/>
          </a:xfrm>
          <a:prstGeom prst="roundRect">
            <a:avLst>
              <a:gd name="adj" fmla="val 29629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33426" y="2105024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3426" y="2105024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5367" y="2085975"/>
            <a:ext cx="175255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Click System → Backup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9129" y="2581275"/>
            <a:ext cx="3190795" cy="514350"/>
          </a:xfrm>
          <a:prstGeom prst="roundRect">
            <a:avLst>
              <a:gd name="adj" fmla="val 29629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33426" y="2714625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3426" y="2714625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5367" y="2695575"/>
            <a:ext cx="203829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Click "Create Backup Now"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9129" y="3190874"/>
            <a:ext cx="3190795" cy="628650"/>
          </a:xfrm>
          <a:prstGeom prst="roundRect">
            <a:avLst>
              <a:gd name="adj" fmla="val 24242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33426" y="3324225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3426" y="3324225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95367" y="3305174"/>
            <a:ext cx="201924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System creates backup file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95367" y="3552825"/>
            <a:ext cx="201924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Wait for process to complete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9129" y="3914775"/>
            <a:ext cx="3190795" cy="628650"/>
          </a:xfrm>
          <a:prstGeom prst="roundRect">
            <a:avLst>
              <a:gd name="adj" fmla="val 24242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33426" y="4048124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3426" y="4048124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95367" y="4029075"/>
            <a:ext cx="151443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Click "Download"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95367" y="4276725"/>
            <a:ext cx="151443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Save locally for safekeeping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9129" y="4638674"/>
            <a:ext cx="3190795" cy="552450"/>
          </a:xfrm>
          <a:prstGeom prst="roundRect">
            <a:avLst>
              <a:gd name="adj" fmla="val 27586"/>
            </a:avLst>
          </a:prstGeom>
          <a:solidFill>
            <a:srgbClr val="FFFBEB"/>
          </a:solidFill>
          <a:ln w="8255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42951" y="4849585"/>
            <a:ext cx="152396" cy="13062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171545" y="4762500"/>
            <a:ext cx="271455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Tip: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Create manual backups before major changes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52816" y="1038224"/>
            <a:ext cx="3495587" cy="5143500"/>
          </a:xfrm>
          <a:prstGeom prst="roundRect">
            <a:avLst>
              <a:gd name="adj" fmla="val 653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52816" y="1038224"/>
            <a:ext cx="3495587" cy="781050"/>
          </a:xfrm>
          <a:prstGeom prst="rect">
            <a:avLst/>
          </a:prstGeom>
          <a:gradFill rotWithShape="1">
            <a:gsLst>
              <a:gs pos="0">
                <a:srgbClr val="9333EA"/>
              </a:gs>
              <a:gs pos="100000">
                <a:srgbClr val="7E22CE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505212" y="1190625"/>
            <a:ext cx="380990" cy="476249"/>
          </a:xfrm>
          <a:prstGeom prst="roundRect">
            <a:avLst>
              <a:gd name="adj" fmla="val 4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581410" y="1322070"/>
            <a:ext cx="228594" cy="194309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000499" y="1219200"/>
            <a:ext cx="170493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Automatic Backup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00499" y="1485900"/>
            <a:ext cx="170493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F3E8FF"/>
                </a:solidFill>
                <a:latin typeface="Inter"/>
                <a:rFonts ascii="Inter" hAnsi="Inter" eastAsia="Inter" cs="Inter"/>
              </a:rPr>
              <a:t>Scheduled backups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05212" y="1971675"/>
            <a:ext cx="3190795" cy="514350"/>
          </a:xfrm>
          <a:prstGeom prst="roundRect">
            <a:avLst>
              <a:gd name="adj" fmla="val 29629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619509" y="2105024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19509" y="2105024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81450" y="2085975"/>
            <a:ext cx="179065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Click "Backup Settings"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05212" y="2581275"/>
            <a:ext cx="3190795" cy="514350"/>
          </a:xfrm>
          <a:prstGeom prst="roundRect">
            <a:avLst>
              <a:gd name="adj" fmla="val 29629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619509" y="2714625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19509" y="2714625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81450" y="2695575"/>
            <a:ext cx="214307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Enable "Automatic Backups"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05212" y="3190874"/>
            <a:ext cx="3190795" cy="781050"/>
          </a:xfrm>
          <a:prstGeom prst="roundRect">
            <a:avLst>
              <a:gd name="adj" fmla="val 19512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619509" y="3324225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19509" y="3324225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81450" y="3305174"/>
            <a:ext cx="260025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Set Frequency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981450" y="3609975"/>
            <a:ext cx="828654" cy="247649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8255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981450" y="3609975"/>
            <a:ext cx="828654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Daily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867253" y="3609975"/>
            <a:ext cx="828654" cy="247649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8255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867253" y="3609975"/>
            <a:ext cx="828654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Weekly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743531" y="3609975"/>
            <a:ext cx="828654" cy="247649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8255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743531" y="3609975"/>
            <a:ext cx="828654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Monthly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505212" y="4067174"/>
            <a:ext cx="3190795" cy="628650"/>
          </a:xfrm>
          <a:prstGeom prst="roundRect">
            <a:avLst>
              <a:gd name="adj" fmla="val 24242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4619509" y="4200525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619509" y="4200525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981450" y="4181474"/>
            <a:ext cx="11143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Set Time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981450" y="4429125"/>
            <a:ext cx="111439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Choose backup time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505212" y="4791075"/>
            <a:ext cx="3190795" cy="514350"/>
          </a:xfrm>
          <a:prstGeom prst="roundRect">
            <a:avLst>
              <a:gd name="adj" fmla="val 29629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4619509" y="4924424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619509" y="4924424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981450" y="4905375"/>
            <a:ext cx="77150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Click Save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029374" y="1038224"/>
            <a:ext cx="3495587" cy="5143500"/>
          </a:xfrm>
          <a:prstGeom prst="roundRect">
            <a:avLst>
              <a:gd name="adj" fmla="val 653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029374" y="1038224"/>
            <a:ext cx="3495587" cy="781050"/>
          </a:xfrm>
          <a:prstGeom prst="rect">
            <a:avLst/>
          </a:prstGeom>
          <a:gradFill rotWithShape="1">
            <a:gsLst>
              <a:gs pos="0">
                <a:srgbClr val="16A34A"/>
              </a:gs>
              <a:gs pos="100000">
                <a:srgbClr val="15803D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8181770" y="1190625"/>
            <a:ext cx="380990" cy="476249"/>
          </a:xfrm>
          <a:prstGeom prst="roundRect">
            <a:avLst>
              <a:gd name="adj" fmla="val 4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257968" y="1330642"/>
            <a:ext cx="228594" cy="177164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8677058" y="1219200"/>
            <a:ext cx="116202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Restore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677058" y="1485900"/>
            <a:ext cx="116202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DCFCE7"/>
                </a:solidFill>
                <a:latin typeface="Inter"/>
                <a:rFonts ascii="Inter" hAnsi="Inter" eastAsia="Inter" cs="Inter"/>
              </a:rPr>
              <a:t>Recover from backup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181770" y="1971675"/>
            <a:ext cx="3190795" cy="514350"/>
          </a:xfrm>
          <a:prstGeom prst="roundRect">
            <a:avLst>
              <a:gd name="adj" fmla="val 29629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8296067" y="2105024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296067" y="2105024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658008" y="2085975"/>
            <a:ext cx="114297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Click "Restore"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181770" y="2581275"/>
            <a:ext cx="3190795" cy="1162050"/>
          </a:xfrm>
          <a:prstGeom prst="roundRect">
            <a:avLst>
              <a:gd name="adj" fmla="val 13114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8296067" y="2714625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296067" y="2714625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658008" y="2695575"/>
            <a:ext cx="260025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Choose Source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658008" y="3000375"/>
            <a:ext cx="2600259" cy="28575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 w="8255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658008" y="3000375"/>
            <a:ext cx="260025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From automatic backups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8658008" y="3343275"/>
            <a:ext cx="2600259" cy="28575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 w="8255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658008" y="3343275"/>
            <a:ext cx="260025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39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Upload backup file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8181770" y="3838574"/>
            <a:ext cx="3190795" cy="514350"/>
          </a:xfrm>
          <a:prstGeom prst="roundRect">
            <a:avLst>
              <a:gd name="adj" fmla="val 29629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8296067" y="3971925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296067" y="3971925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658008" y="3952874"/>
            <a:ext cx="226689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Select Backup → Click Restore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8181770" y="4448175"/>
            <a:ext cx="3190795" cy="628650"/>
          </a:xfrm>
          <a:prstGeom prst="roundRect">
            <a:avLst>
              <a:gd name="adj" fmla="val 24242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8296067" y="4581524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296067" y="4581524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658008" y="4562475"/>
            <a:ext cx="152396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Confirm Action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658008" y="4810124"/>
            <a:ext cx="152396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This overwrites current data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8181770" y="5172075"/>
            <a:ext cx="3190795" cy="514350"/>
          </a:xfrm>
          <a:prstGeom prst="roundRect">
            <a:avLst>
              <a:gd name="adj" fmla="val 29629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8296067" y="5305425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296067" y="5305425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5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658008" y="5286375"/>
            <a:ext cx="147633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Wait for Completion</a:t>
            </a:r>
          </a:p>
        </p:txBody>
      </p:sp>
      <p:sp>
        <p:nvSpPr>
          <p:cNvPr id="99" name="Rectangle 98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1E40AF"/>
              </a:gs>
              <a:gs pos="50000">
                <a:srgbClr val="3B82F6"/>
              </a:gs>
              <a:gs pos="100000">
                <a:srgbClr val="1E40A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0E7FF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E40A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3B82F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4009924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End of Day Procedure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96287" y="247649"/>
            <a:ext cx="1028674" cy="304800"/>
          </a:xfrm>
          <a:prstGeom prst="roundRect">
            <a:avLst>
              <a:gd name="adj" fmla="val 6249375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96287" y="247649"/>
            <a:ext cx="102867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6.7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3514637" cy="761999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351774" y="1315084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7228" y="1171575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7228" y="1171575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76318" y="1152524"/>
            <a:ext cx="150491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Click End of 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76318" y="1419225"/>
            <a:ext cx="150491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Access from dashboard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6733" y="1876424"/>
            <a:ext cx="3514637" cy="13716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46973" y="2496184"/>
            <a:ext cx="13716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57228" y="2047874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7228" y="2047874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76318" y="2028825"/>
            <a:ext cx="187637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Review System Display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276318" y="2382610"/>
            <a:ext cx="152396" cy="13062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485862" y="2352675"/>
            <a:ext cx="160968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Total sales &amp; transactions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276318" y="2649310"/>
            <a:ext cx="152396" cy="13062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485862" y="2619374"/>
            <a:ext cx="163825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Sales by payment method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276318" y="2916010"/>
            <a:ext cx="152396" cy="13062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485862" y="2886075"/>
            <a:ext cx="166683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Expected vs counted cash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6733" y="3362324"/>
            <a:ext cx="3514637" cy="761999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 Same Side Corner Rectangle 25"/>
          <p:cNvSpPr/>
          <p:nvPr/>
        </p:nvSpPr>
        <p:spPr>
          <a:xfrm rot="16200000">
            <a:off x="351774" y="3677283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57228" y="3533774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7228" y="3533774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76318" y="3514725"/>
            <a:ext cx="153348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Count Physical Cash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76318" y="3781424"/>
            <a:ext cx="153348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Count all cash in drawer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33766" y="1000125"/>
            <a:ext cx="3514637" cy="761999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 rot="16200000">
            <a:off x="4018807" y="1315084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24261" y="1171575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24261" y="1171575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43351" y="1152524"/>
            <a:ext cx="138109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Enter Actual Cash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43351" y="1419225"/>
            <a:ext cx="138109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Input counted amount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33766" y="1876424"/>
            <a:ext cx="3514637" cy="1638299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 Same Side Corner Rectangle 37"/>
          <p:cNvSpPr/>
          <p:nvPr/>
        </p:nvSpPr>
        <p:spPr>
          <a:xfrm rot="16200000">
            <a:off x="3580657" y="2629533"/>
            <a:ext cx="16382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524261" y="2047874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24261" y="2047874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43351" y="2028825"/>
            <a:ext cx="218117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Review Variance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43351" y="2333624"/>
            <a:ext cx="218117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If variance &gt; limit: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943351" y="2671082"/>
            <a:ext cx="152396" cy="87085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5152896" y="2619374"/>
            <a:ext cx="126679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Review transactions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943351" y="2937782"/>
            <a:ext cx="152396" cy="87085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5152896" y="2886075"/>
            <a:ext cx="102867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Check for errors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943351" y="3204482"/>
            <a:ext cx="152396" cy="87085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5152896" y="3152775"/>
            <a:ext cx="197162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Enter notes explaining variance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333766" y="3629025"/>
            <a:ext cx="3514637" cy="761999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 Same Side Corner Rectangle 49"/>
          <p:cNvSpPr/>
          <p:nvPr/>
        </p:nvSpPr>
        <p:spPr>
          <a:xfrm rot="16200000">
            <a:off x="4018807" y="3943984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4524261" y="3800475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24261" y="3800475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43351" y="3781424"/>
            <a:ext cx="155253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Complete End of Day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43351" y="4048124"/>
            <a:ext cx="155253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Click button to finalize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010324" y="1000125"/>
            <a:ext cx="3514637" cy="13716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 Same Side Corner Rectangle 55"/>
          <p:cNvSpPr/>
          <p:nvPr/>
        </p:nvSpPr>
        <p:spPr>
          <a:xfrm rot="16200000">
            <a:off x="7390564" y="1619885"/>
            <a:ext cx="13716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8200819" y="1171575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00819" y="1171575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19909" y="1152524"/>
            <a:ext cx="199067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System Generates Reports</a:t>
            </a:r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619909" y="1506310"/>
            <a:ext cx="152396" cy="130628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8829454" y="1476375"/>
            <a:ext cx="109534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End of day report</a:t>
            </a:r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619909" y="1773010"/>
            <a:ext cx="152396" cy="130628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8829454" y="1743075"/>
            <a:ext cx="115249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Z-reading (for tax)</a:t>
            </a:r>
          </a:p>
        </p:txBody>
      </p:sp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619909" y="2039710"/>
            <a:ext cx="152396" cy="130628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8829454" y="2009774"/>
            <a:ext cx="150491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Reconciliation summary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010324" y="2486025"/>
            <a:ext cx="3514637" cy="761999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 Same Side Corner Rectangle 66"/>
          <p:cNvSpPr/>
          <p:nvPr/>
        </p:nvSpPr>
        <p:spPr>
          <a:xfrm rot="16200000">
            <a:off x="7695365" y="2800984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8200819" y="2657475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200819" y="2657475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619909" y="2638425"/>
            <a:ext cx="148586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Print or Save Report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619909" y="2905124"/>
            <a:ext cx="148586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Store for records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010324" y="3362324"/>
            <a:ext cx="3514637" cy="761999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 Same Side Corner Rectangle 72"/>
          <p:cNvSpPr/>
          <p:nvPr/>
        </p:nvSpPr>
        <p:spPr>
          <a:xfrm rot="16200000">
            <a:off x="7695365" y="3677283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8200819" y="3533774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200819" y="3533774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9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619909" y="3514725"/>
            <a:ext cx="178113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System Resets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619909" y="3781424"/>
            <a:ext cx="178113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Ready for next business day</a:t>
            </a:r>
          </a:p>
        </p:txBody>
      </p:sp>
      <p:sp>
        <p:nvSpPr>
          <p:cNvPr id="78" name="Rectangle 77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1E40AF"/>
              </a:gs>
              <a:gs pos="50000">
                <a:srgbClr val="3B82F6"/>
              </a:gs>
              <a:gs pos="100000">
                <a:srgbClr val="1E40A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0E7FF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E40A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3B82F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640063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Troubleshooting - Common Issues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53356" y="247649"/>
            <a:ext cx="1771605" cy="304800"/>
          </a:xfrm>
          <a:prstGeom prst="roundRect">
            <a:avLst>
              <a:gd name="adj" fmla="val 6249375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53356" y="247649"/>
            <a:ext cx="1771605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Troubleshooting Guide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3514637" cy="2247899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391176" y="2058034"/>
            <a:ext cx="22478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7228" y="1152524"/>
            <a:ext cx="380990" cy="476249"/>
          </a:xfrm>
          <a:prstGeom prst="roundRect">
            <a:avLst>
              <a:gd name="adj" fmla="val 40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33426" y="1292542"/>
            <a:ext cx="228594" cy="1771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52516" y="1257300"/>
            <a:ext cx="100009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Can't Log 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7228" y="1743075"/>
            <a:ext cx="3171745" cy="400050"/>
          </a:xfrm>
          <a:prstGeom prst="roundRect">
            <a:avLst>
              <a:gd name="adj" fmla="val 19047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33426" y="1887310"/>
            <a:ext cx="152396" cy="13062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62020" y="1828800"/>
            <a:ext cx="1133446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Wrong password: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3566" y="1828800"/>
            <a:ext cx="1533486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Click "Forgot Password"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7228" y="2219324"/>
            <a:ext cx="3171745" cy="400050"/>
          </a:xfrm>
          <a:prstGeom prst="roundRect">
            <a:avLst>
              <a:gd name="adj" fmla="val 19047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33426" y="2363560"/>
            <a:ext cx="152396" cy="13062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62020" y="2305049"/>
            <a:ext cx="1047723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Account locked: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7843" y="2305049"/>
            <a:ext cx="1362040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Contact administrator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7228" y="2695575"/>
            <a:ext cx="3171745" cy="400050"/>
          </a:xfrm>
          <a:prstGeom prst="roundRect">
            <a:avLst>
              <a:gd name="adj" fmla="val 19047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33426" y="2839810"/>
            <a:ext cx="152396" cy="13062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162020" y="2781300"/>
            <a:ext cx="952476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Browser issue: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52596" y="2781300"/>
            <a:ext cx="752456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Clear cache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6733" y="3400425"/>
            <a:ext cx="3514637" cy="2247899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 Same Side Corner Rectangle 25"/>
          <p:cNvSpPr/>
          <p:nvPr/>
        </p:nvSpPr>
        <p:spPr>
          <a:xfrm rot="16200000">
            <a:off x="-391176" y="4458334"/>
            <a:ext cx="22478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57228" y="3552825"/>
            <a:ext cx="380990" cy="476249"/>
          </a:xfrm>
          <a:prstGeom prst="roundRect">
            <a:avLst>
              <a:gd name="adj" fmla="val 40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33426" y="3684270"/>
            <a:ext cx="228594" cy="19430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352516" y="3657600"/>
            <a:ext cx="179065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Scanner Not Working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7228" y="4143375"/>
            <a:ext cx="3171745" cy="400050"/>
          </a:xfrm>
          <a:prstGeom prst="roundRect">
            <a:avLst>
              <a:gd name="adj" fmla="val 19047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33426" y="4287610"/>
            <a:ext cx="152396" cy="13062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162020" y="4229100"/>
            <a:ext cx="1162020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Connection issue: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62140" y="4229100"/>
            <a:ext cx="1438239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Check cable/Bluetooth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7228" y="4619625"/>
            <a:ext cx="3171745" cy="400050"/>
          </a:xfrm>
          <a:prstGeom prst="roundRect">
            <a:avLst>
              <a:gd name="adj" fmla="val 19047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33426" y="4763860"/>
            <a:ext cx="152396" cy="13062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162020" y="4705350"/>
            <a:ext cx="1019149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Wrong settings: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19269" y="4705350"/>
            <a:ext cx="1562060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Reconfigure in Hardware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57228" y="5095874"/>
            <a:ext cx="3171745" cy="400050"/>
          </a:xfrm>
          <a:prstGeom prst="roundRect">
            <a:avLst>
              <a:gd name="adj" fmla="val 19047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33426" y="5240110"/>
            <a:ext cx="152396" cy="13062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162020" y="5181599"/>
            <a:ext cx="809604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Driver issue: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09724" y="5181599"/>
            <a:ext cx="1085822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Restart computer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33766" y="1000125"/>
            <a:ext cx="3514637" cy="2247899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 Same Side Corner Rectangle 42"/>
          <p:cNvSpPr/>
          <p:nvPr/>
        </p:nvSpPr>
        <p:spPr>
          <a:xfrm rot="16200000">
            <a:off x="3275857" y="2058034"/>
            <a:ext cx="22478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524261" y="1152524"/>
            <a:ext cx="380990" cy="476249"/>
          </a:xfrm>
          <a:prstGeom prst="roundRect">
            <a:avLst>
              <a:gd name="adj" fmla="val 40000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600459" y="1292542"/>
            <a:ext cx="228594" cy="177164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5019549" y="1257300"/>
            <a:ext cx="194305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Printer Not Responding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24261" y="1743075"/>
            <a:ext cx="3171745" cy="400050"/>
          </a:xfrm>
          <a:prstGeom prst="roundRect">
            <a:avLst>
              <a:gd name="adj" fmla="val 19047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4600459" y="1887310"/>
            <a:ext cx="152396" cy="130628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4829054" y="1828800"/>
            <a:ext cx="476238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Offline: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43391" y="1828800"/>
            <a:ext cx="1695407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Check power &amp; connection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24261" y="2219324"/>
            <a:ext cx="3171745" cy="400050"/>
          </a:xfrm>
          <a:prstGeom prst="roundRect">
            <a:avLst>
              <a:gd name="adj" fmla="val 19047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4600459" y="2363560"/>
            <a:ext cx="152396" cy="130628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4829054" y="2305049"/>
            <a:ext cx="685782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Paper jam: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552936" y="2305049"/>
            <a:ext cx="1476338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Clear jam, reload paper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24261" y="2695575"/>
            <a:ext cx="3171745" cy="400050"/>
          </a:xfrm>
          <a:prstGeom prst="roundRect">
            <a:avLst>
              <a:gd name="adj" fmla="val 19047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4600459" y="2839810"/>
            <a:ext cx="152396" cy="13062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4829054" y="2781300"/>
            <a:ext cx="847703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Out of paper: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724381" y="2781300"/>
            <a:ext cx="1142971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Replace paper roll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333766" y="3400425"/>
            <a:ext cx="3514637" cy="2247899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 Same Side Corner Rectangle 59"/>
          <p:cNvSpPr/>
          <p:nvPr/>
        </p:nvSpPr>
        <p:spPr>
          <a:xfrm rot="16200000">
            <a:off x="3275857" y="4458334"/>
            <a:ext cx="22478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4524261" y="3552825"/>
            <a:ext cx="380990" cy="476249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4600459" y="3684270"/>
            <a:ext cx="228594" cy="194309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5019549" y="3657600"/>
            <a:ext cx="171445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Sales Not Appearing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524261" y="4143375"/>
            <a:ext cx="3171745" cy="400050"/>
          </a:xfrm>
          <a:prstGeom prst="roundRect">
            <a:avLst>
              <a:gd name="adj" fmla="val 19047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4600459" y="4287610"/>
            <a:ext cx="152396" cy="130628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4829054" y="4229100"/>
            <a:ext cx="923901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Internet issue: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791055" y="4229100"/>
            <a:ext cx="1142971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Check connection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524261" y="4619625"/>
            <a:ext cx="3171745" cy="400050"/>
          </a:xfrm>
          <a:prstGeom prst="roundRect">
            <a:avLst>
              <a:gd name="adj" fmla="val 19047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4600459" y="4763860"/>
            <a:ext cx="152396" cy="130628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4829054" y="4705350"/>
            <a:ext cx="752456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Sync delay: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619609" y="4705350"/>
            <a:ext cx="1562060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Wait 1-2 minutes, refresh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524261" y="5095874"/>
            <a:ext cx="3171745" cy="400050"/>
          </a:xfrm>
          <a:prstGeom prst="roundRect">
            <a:avLst>
              <a:gd name="adj" fmla="val 19047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3" name="Picture 72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4600459" y="5240110"/>
            <a:ext cx="152396" cy="130628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4829054" y="5172075"/>
            <a:ext cx="260978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4B5563"/>
                </a:solidFill>
                <a:latin typeface="Inter"/>
                <a:rFonts ascii="Inter" hAnsi="Inter" eastAsia="Inter" cs="Inter"/>
              </a:rPr>
              <a:t>Offline sales will sync</a:t>
            </a: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when reconnected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010324" y="1000125"/>
            <a:ext cx="3514637" cy="17716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 Same Side Corner Rectangle 75"/>
          <p:cNvSpPr/>
          <p:nvPr/>
        </p:nvSpPr>
        <p:spPr>
          <a:xfrm rot="16200000">
            <a:off x="7190539" y="1819910"/>
            <a:ext cx="17716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8200819" y="1152524"/>
            <a:ext cx="380990" cy="476249"/>
          </a:xfrm>
          <a:prstGeom prst="roundRect">
            <a:avLst>
              <a:gd name="adj" fmla="val 40000"/>
            </a:avLst>
          </a:prstGeom>
          <a:solidFill>
            <a:srgbClr val="FEF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8" name="Picture 77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8277018" y="1283970"/>
            <a:ext cx="228594" cy="194309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8696107" y="1257300"/>
            <a:ext cx="189542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Wrong Prices Showing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200819" y="1743075"/>
            <a:ext cx="3171745" cy="400050"/>
          </a:xfrm>
          <a:prstGeom prst="roundRect">
            <a:avLst>
              <a:gd name="adj" fmla="val 19047"/>
            </a:avLst>
          </a:prstGeom>
          <a:solidFill>
            <a:srgbClr val="FEF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1" name="Picture 80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8277018" y="1887310"/>
            <a:ext cx="152396" cy="130628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8505612" y="1828800"/>
            <a:ext cx="1362040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Product not updated: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896227" y="1828800"/>
            <a:ext cx="838179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Edit and save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8200819" y="2219324"/>
            <a:ext cx="3171745" cy="400050"/>
          </a:xfrm>
          <a:prstGeom prst="roundRect">
            <a:avLst>
              <a:gd name="adj" fmla="val 19047"/>
            </a:avLst>
          </a:prstGeom>
          <a:solidFill>
            <a:srgbClr val="FEF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5" name="Picture 84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8277018" y="2363560"/>
            <a:ext cx="152396" cy="130628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8505612" y="2305049"/>
            <a:ext cx="828654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Cache issue: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372365" y="2305049"/>
            <a:ext cx="1304892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Clear browser cache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8010324" y="2924175"/>
            <a:ext cx="3514637" cy="2933699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 Same Side Corner Rectangle 88"/>
          <p:cNvSpPr/>
          <p:nvPr/>
        </p:nvSpPr>
        <p:spPr>
          <a:xfrm rot="16200000">
            <a:off x="6609515" y="4324984"/>
            <a:ext cx="2933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8238919" y="3114675"/>
            <a:ext cx="380990" cy="476249"/>
          </a:xfrm>
          <a:prstGeom prst="roundRect">
            <a:avLst>
              <a:gd name="adj" fmla="val 40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8315117" y="3254692"/>
            <a:ext cx="228594" cy="177164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8734206" y="3219449"/>
            <a:ext cx="103819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Getting Help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8238919" y="3705224"/>
            <a:ext cx="3095547" cy="457200"/>
          </a:xfrm>
          <a:prstGeom prst="roundRect">
            <a:avLst>
              <a:gd name="adj" fmla="val 33333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4" name="Picture 93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8334166" y="3870222"/>
            <a:ext cx="171445" cy="127204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8581810" y="3848099"/>
            <a:ext cx="390515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Email: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010424" y="3848099"/>
            <a:ext cx="1419189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support@appex.co.zw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8238919" y="4257675"/>
            <a:ext cx="3095547" cy="457200"/>
          </a:xfrm>
          <a:prstGeom prst="roundRect">
            <a:avLst>
              <a:gd name="adj" fmla="val 33333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8" name="Picture 97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8334166" y="4417141"/>
            <a:ext cx="171445" cy="138266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8581810" y="4400550"/>
            <a:ext cx="447663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Phone: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067573" y="4400550"/>
            <a:ext cx="1104872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+263 780808358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8238919" y="4810124"/>
            <a:ext cx="3095547" cy="457200"/>
          </a:xfrm>
          <a:prstGeom prst="roundRect">
            <a:avLst>
              <a:gd name="adj" fmla="val 33333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2" name="Picture 101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8334166" y="4964061"/>
            <a:ext cx="171445" cy="149327"/>
          </a:xfrm>
          <a:prstGeom prst="rect">
            <a:avLst/>
          </a:prstGeom>
        </p:spPr>
      </p:pic>
      <p:sp>
        <p:nvSpPr>
          <p:cNvPr id="103" name="TextBox 102"/>
          <p:cNvSpPr txBox="1"/>
          <p:nvPr/>
        </p:nvSpPr>
        <p:spPr>
          <a:xfrm>
            <a:off x="8581810" y="4952999"/>
            <a:ext cx="723881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WhatsApp: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334266" y="4952999"/>
            <a:ext cx="1133446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+263 774 937 081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8238919" y="5362575"/>
            <a:ext cx="3095547" cy="3048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315117" y="5438774"/>
            <a:ext cx="294315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4B5563"/>
                </a:solidFill>
                <a:latin typeface="Inter"/>
                <a:rFonts ascii="Inter" hAnsi="Inter" eastAsia="Inter" cs="Inter"/>
              </a:rPr>
              <a:t>Support Hours:</a:t>
            </a: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Mon-Fri, 8am-5pm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1E40AF"/>
              </a:gs>
              <a:gs pos="50000">
                <a:srgbClr val="3B82F6"/>
              </a:gs>
              <a:gs pos="100000">
                <a:srgbClr val="1E40A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0E7FF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E40A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3B82F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2314517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Getting Help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53356" y="247649"/>
            <a:ext cx="1771605" cy="304800"/>
          </a:xfrm>
          <a:prstGeom prst="roundRect">
            <a:avLst>
              <a:gd name="adj" fmla="val 6249375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53356" y="247649"/>
            <a:ext cx="1771605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Troubleshooting Guide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114425"/>
            <a:ext cx="5276718" cy="5143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38977" y="3620135"/>
            <a:ext cx="51435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3426" y="1343025"/>
            <a:ext cx="514337" cy="600075"/>
          </a:xfrm>
          <a:prstGeom prst="roundRect">
            <a:avLst>
              <a:gd name="adj" fmla="val 29629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47723" y="1517973"/>
            <a:ext cx="285742" cy="22160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562060" y="1390650"/>
            <a:ext cx="1723981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In-App Support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2060" y="1714500"/>
            <a:ext cx="172398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Self-service resources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3426" y="2133599"/>
            <a:ext cx="4781430" cy="800100"/>
          </a:xfrm>
          <a:prstGeom prst="roundRect">
            <a:avLst>
              <a:gd name="adj" fmla="val 19047"/>
            </a:avLst>
          </a:prstGeom>
          <a:gradFill rotWithShape="1">
            <a:gsLst>
              <a:gs pos="0">
                <a:srgbClr val="EFF6FF"/>
              </a:gs>
              <a:gs pos="100000">
                <a:srgbClr val="FAF5F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85822" y="2305049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5822" y="2305049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4912" y="2286000"/>
            <a:ext cx="227641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Click "Help" in Sidebar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4912" y="2590799"/>
            <a:ext cx="227641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Access help center from main menu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3426" y="3086100"/>
            <a:ext cx="4781430" cy="800100"/>
          </a:xfrm>
          <a:prstGeom prst="roundRect">
            <a:avLst>
              <a:gd name="adj" fmla="val 19047"/>
            </a:avLst>
          </a:prstGeom>
          <a:gradFill rotWithShape="1">
            <a:gsLst>
              <a:gs pos="0">
                <a:srgbClr val="EFF6FF"/>
              </a:gs>
              <a:gs pos="100000">
                <a:srgbClr val="FAF5F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85822" y="3257550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85822" y="3257550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4912" y="3238500"/>
            <a:ext cx="223831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Search Knowledge 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4912" y="3543300"/>
            <a:ext cx="223831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Find answers to common questions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3426" y="4038599"/>
            <a:ext cx="4781430" cy="800100"/>
          </a:xfrm>
          <a:prstGeom prst="roundRect">
            <a:avLst>
              <a:gd name="adj" fmla="val 19047"/>
            </a:avLst>
          </a:prstGeom>
          <a:gradFill rotWithShape="1">
            <a:gsLst>
              <a:gs pos="0">
                <a:srgbClr val="EFF6FF"/>
              </a:gs>
              <a:gs pos="100000">
                <a:srgbClr val="FAF5F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85822" y="4210049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85822" y="4210049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4912" y="4190999"/>
            <a:ext cx="172398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View Video Tutorials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4912" y="4495799"/>
            <a:ext cx="172398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Step-by-step visual guides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3426" y="5029200"/>
            <a:ext cx="4781430" cy="971550"/>
          </a:xfrm>
          <a:prstGeom prst="roundRect">
            <a:avLst>
              <a:gd name="adj" fmla="val 15686"/>
            </a:avLst>
          </a:prstGeom>
          <a:solidFill>
            <a:srgbClr val="FFFBEB"/>
          </a:solidFill>
          <a:ln w="8255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95347" y="5262282"/>
            <a:ext cx="190495" cy="16248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362040" y="5191125"/>
            <a:ext cx="419089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Quick Tip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62040" y="5457825"/>
            <a:ext cx="4190895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Most common issues are solved through the knowledge base. Try searching your question first!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48243" y="1114425"/>
            <a:ext cx="5276718" cy="5143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 Same Side Corner Rectangle 33"/>
          <p:cNvSpPr/>
          <p:nvPr/>
        </p:nvSpPr>
        <p:spPr>
          <a:xfrm rot="16200000">
            <a:off x="3742533" y="3620135"/>
            <a:ext cx="51435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514937" y="1343025"/>
            <a:ext cx="514337" cy="600075"/>
          </a:xfrm>
          <a:prstGeom prst="roundRect">
            <a:avLst>
              <a:gd name="adj" fmla="val 29629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629234" y="1517973"/>
            <a:ext cx="285742" cy="22160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143571" y="1390650"/>
            <a:ext cx="1847803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Contact Support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43571" y="1714500"/>
            <a:ext cx="184780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Direct assistance available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14937" y="2133599"/>
            <a:ext cx="4781430" cy="761999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 w="825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676858" y="2295525"/>
            <a:ext cx="342891" cy="438149"/>
          </a:xfrm>
          <a:prstGeom prst="roundRect">
            <a:avLst>
              <a:gd name="adj" fmla="val 44444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753056" y="2435038"/>
            <a:ext cx="190495" cy="140073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134046" y="2295525"/>
            <a:ext cx="400039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Email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4046" y="2543175"/>
            <a:ext cx="400039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support@appex.co.zw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14937" y="3009900"/>
            <a:ext cx="4781430" cy="761999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 w="825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676858" y="3171825"/>
            <a:ext cx="342891" cy="438149"/>
          </a:xfrm>
          <a:prstGeom prst="roundRect">
            <a:avLst>
              <a:gd name="adj" fmla="val 44444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753056" y="3305735"/>
            <a:ext cx="190495" cy="151279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7134046" y="3171825"/>
            <a:ext cx="400039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Phone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34046" y="3419474"/>
            <a:ext cx="400039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+263 780808358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514937" y="3886200"/>
            <a:ext cx="4781430" cy="761999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 w="8255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676858" y="4048124"/>
            <a:ext cx="342891" cy="438149"/>
          </a:xfrm>
          <a:prstGeom prst="roundRect">
            <a:avLst>
              <a:gd name="adj" fmla="val 44444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753056" y="4176432"/>
            <a:ext cx="190495" cy="162485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7134046" y="4048124"/>
            <a:ext cx="400039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WhatsApp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4046" y="4295774"/>
            <a:ext cx="400039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+263 774 937 081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514937" y="4838699"/>
            <a:ext cx="4781430" cy="1123949"/>
          </a:xfrm>
          <a:prstGeom prst="roundRect">
            <a:avLst>
              <a:gd name="adj" fmla="val 13559"/>
            </a:avLst>
          </a:prstGeom>
          <a:gradFill rotWithShape="1">
            <a:gsLst>
              <a:gs pos="0">
                <a:srgbClr val="F0FDF4"/>
              </a:gs>
              <a:gs pos="100000">
                <a:srgbClr val="EFF6FF"/>
              </a:gs>
            </a:gsLst>
            <a:lin scaled="0" ang="10800000"/>
          </a:gradFill>
          <a:ln w="8255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714957" y="5113019"/>
            <a:ext cx="228594" cy="194309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7057848" y="5038724"/>
            <a:ext cx="143823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Support Hours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7057848" y="5380101"/>
            <a:ext cx="133346" cy="117348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7267393" y="5343525"/>
            <a:ext cx="104772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Monday - Friday</a:t>
            </a:r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7057848" y="5608701"/>
            <a:ext cx="133346" cy="117348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7267393" y="5572125"/>
            <a:ext cx="122869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8:00 AM - 5:00 PM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1E40AF"/>
              </a:gs>
              <a:gs pos="50000">
                <a:srgbClr val="3B82F6"/>
              </a:gs>
              <a:gs pos="100000">
                <a:srgbClr val="1E40A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