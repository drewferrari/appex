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18.png"/><Relationship Id="rId11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25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25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0284C7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EA580C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1562100"/>
            <a:ext cx="2066873" cy="419100"/>
          </a:xfrm>
          <a:prstGeom prst="roundRect">
            <a:avLst>
              <a:gd name="adj" fmla="val 4545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33" y="1562100"/>
            <a:ext cx="2066873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SERIAL &amp; ACCOUNTS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702516"/>
            <a:ext cx="171445" cy="138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33" y="2286000"/>
            <a:ext cx="7676958" cy="1333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Serial Number Tracking &amp;</a:t>
            </a:r>
            <a:r>
              <a:rPr sz="1104"/>
              <a:t>
</a:t>
            </a: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Contractor Management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8480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Training Guide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857625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33" y="4552949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54917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9624" y="5029200"/>
            <a:ext cx="28955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Hardware Operations 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24681" y="1600200"/>
            <a:ext cx="2800279" cy="36576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6961921" y="3362960"/>
            <a:ext cx="3657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7573" y="190499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7573" y="23241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483167"/>
            <a:ext cx="228594" cy="177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39059" y="2324100"/>
            <a:ext cx="12096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Serial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9059" y="2571750"/>
            <a:ext cx="12096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Warranty &amp; Lookup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7573" y="30289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188017"/>
            <a:ext cx="228594" cy="1771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39059" y="3028950"/>
            <a:ext cx="15334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Contractor Accounts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9059" y="3276599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Credit &amp; Terms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7573" y="37337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884295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39059" y="3733799"/>
            <a:ext cx="15430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Invoice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9059" y="3981449"/>
            <a:ext cx="15430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Payments &amp; Aging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7573" y="44386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587716"/>
            <a:ext cx="228594" cy="19716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39059" y="4438649"/>
            <a:ext cx="12191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Warranty Claims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059" y="4686300"/>
            <a:ext cx="121916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Tracking &amp; Service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58161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Serial Number Dashboard &amp;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34386" y="247649"/>
            <a:ext cx="990575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34386" y="247649"/>
            <a:ext cx="99057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3724181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05476" y="2210433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2287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626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31445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192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18192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1819275"/>
            <a:ext cx="28955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956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Inventory → Serial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3667124"/>
            <a:ext cx="3724181" cy="2428875"/>
          </a:xfrm>
          <a:prstGeom prst="roundRect">
            <a:avLst>
              <a:gd name="adj" fmla="val 9411"/>
            </a:avLst>
          </a:prstGeom>
          <a:gradFill rotWithShape="1">
            <a:gsLst>
              <a:gs pos="0">
                <a:srgbClr val="FFF7ED"/>
              </a:gs>
              <a:gs pos="100000">
                <a:srgbClr val="EFF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481664" y="4815521"/>
            <a:ext cx="2428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3916311"/>
            <a:ext cx="171445" cy="14932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42971" y="3876674"/>
            <a:ext cx="6191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Purpose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27" y="4238624"/>
            <a:ext cx="3305092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Track high-value items with unique serial numbers for warranty and service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9509" y="1038224"/>
            <a:ext cx="6905452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810004" y="1324535"/>
            <a:ext cx="190495" cy="15127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76698" y="1266824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Dashboard Overview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10004" y="1685925"/>
            <a:ext cx="3209844" cy="1066799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962400" y="1902142"/>
            <a:ext cx="228594" cy="1771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962400" y="2219324"/>
            <a:ext cx="29050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Total Serialized Items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4621" y="1685925"/>
            <a:ext cx="3209844" cy="1066799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EFF6FF"/>
              </a:gs>
              <a:gs pos="100000">
                <a:srgbClr val="DBEAFE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77018" y="1902142"/>
            <a:ext cx="228594" cy="1771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77018" y="2219324"/>
            <a:ext cx="29050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Items by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7018" y="2447924"/>
            <a:ext cx="29050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In stock, sold, returned, warranty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10004" y="2867025"/>
            <a:ext cx="3209844" cy="876299"/>
          </a:xfrm>
          <a:prstGeom prst="roundRect">
            <a:avLst>
              <a:gd name="adj" fmla="val 17391"/>
            </a:avLst>
          </a:prstGeom>
          <a:gradFill rotWithShape="1">
            <a:gsLst>
              <a:gs pos="0">
                <a:srgbClr val="FFF7ED"/>
              </a:gs>
              <a:gs pos="100000">
                <a:srgbClr val="FFEDD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962400" y="3074670"/>
            <a:ext cx="228594" cy="19430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962400" y="3400425"/>
            <a:ext cx="29050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Items by Category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24621" y="2867025"/>
            <a:ext cx="3209844" cy="876299"/>
          </a:xfrm>
          <a:prstGeom prst="roundRect">
            <a:avLst>
              <a:gd name="adj" fmla="val 17391"/>
            </a:avLst>
          </a:prstGeom>
          <a:gradFill rotWithShape="1">
            <a:gsLst>
              <a:gs pos="0">
                <a:srgbClr val="F0FDF4"/>
              </a:gs>
              <a:gs pos="100000">
                <a:srgbClr val="DCFCE7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277018" y="3063240"/>
            <a:ext cx="228594" cy="21717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77018" y="3400425"/>
            <a:ext cx="29050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Items Under Warranty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10004" y="3857625"/>
            <a:ext cx="6524461" cy="1066799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FAF5FF"/>
              </a:gs>
              <a:gs pos="100000">
                <a:srgbClr val="F3E8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962400" y="4075271"/>
            <a:ext cx="228594" cy="17430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962400" y="4391025"/>
            <a:ext cx="621966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Serial Number Lookup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62400" y="4619625"/>
            <a:ext cx="621966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Quick search by serial number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28614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Adding Serial 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27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During Receiving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6318" y="1609724"/>
            <a:ext cx="22478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prompts for serial numbers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9907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27" y="19907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6318" y="1990724"/>
            <a:ext cx="1800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Scan each or enter manually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3717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27" y="237172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6318" y="2371725"/>
            <a:ext cx="15525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validates format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7527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62000" y="2842069"/>
            <a:ext cx="133346" cy="8801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76318" y="2752725"/>
            <a:ext cx="12286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Added to inventory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19689" y="1262342"/>
            <a:ext cx="190495" cy="1232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86382" y="1190625"/>
            <a:ext cx="8572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Bulk Entry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689" y="16097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689" y="16097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0679" y="1609724"/>
            <a:ext cx="20859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0284C7"/>
                </a:solidFill>
                <a:latin typeface="Inter"/>
                <a:rFonts ascii="Inter" hAnsi="Inter" eastAsia="Inter" cs="Inter"/>
              </a:rPr>
              <a:t>"Bulk Add Serial Numbers"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689" y="19716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689" y="1971675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00679" y="1971675"/>
            <a:ext cx="9239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product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9689" y="23336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689" y="233362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00679" y="2333624"/>
            <a:ext cx="19716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range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(SN1000-SN2000)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00679" y="2543175"/>
            <a:ext cx="19716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OR paste list of serial numbers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19689" y="27908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86362" y="2880169"/>
            <a:ext cx="133346" cy="8801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00679" y="2790824"/>
            <a:ext cx="16858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Creates individual records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32424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Selling Serialized Items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27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2763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At Point of Sale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19" y="1609724"/>
            <a:ext cx="16477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serialized item to cart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9335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27" y="19335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19" y="1933574"/>
            <a:ext cx="21811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prompts for serial number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27" y="22574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327" y="22574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19" y="2257425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Scan or select from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5812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27" y="25812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0119" y="2581275"/>
            <a:ext cx="151443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verifies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in stock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29051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52476" y="2981757"/>
            <a:ext cx="114297" cy="7533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00119" y="2905124"/>
            <a:ext cx="12286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Recorded with sale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19689" y="1234327"/>
            <a:ext cx="190495" cy="17929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86382" y="1190625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Auto-Assignment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689" y="1609724"/>
            <a:ext cx="4914777" cy="838200"/>
          </a:xfrm>
          <a:prstGeom prst="roundRect">
            <a:avLst>
              <a:gd name="adj" fmla="val 18181"/>
            </a:avLst>
          </a:prstGeom>
          <a:gradFill rotWithShape="1">
            <a:gsLst>
              <a:gs pos="0">
                <a:srgbClr val="EFF6FF"/>
              </a:gs>
              <a:gs pos="100000">
                <a:srgbClr val="ECFE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72085" y="1820811"/>
            <a:ext cx="171445" cy="14932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19729" y="1800225"/>
            <a:ext cx="12953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Automatic Selection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72085" y="2105024"/>
            <a:ext cx="46099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System automatically assigns </a:t>
            </a:r>
            <a:r>
              <a:rPr sz="837" b="1">
                <a:solidFill>
                  <a:srgbClr val="0284C7"/>
                </a:solidFill>
                <a:latin typeface="Inter"/>
                <a:rFonts ascii="Inter" hAnsi="Inter" eastAsia="Inter" cs="Inter"/>
              </a:rPr>
              <a:t>oldest serial number first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19689" y="2562224"/>
            <a:ext cx="4914777" cy="83820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72085" y="2778841"/>
            <a:ext cx="171445" cy="13826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19729" y="2752725"/>
            <a:ext cx="10953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FIFO Compliance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2085" y="3057525"/>
            <a:ext cx="46099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Ensures </a:t>
            </a:r>
            <a:r>
              <a:rPr sz="837" b="1">
                <a:solidFill>
                  <a:srgbClr val="15803D"/>
                </a:solidFill>
                <a:latin typeface="Inter"/>
                <a:rFonts ascii="Inter" hAnsi="Inter" eastAsia="Inter" cs="Inter"/>
              </a:rPr>
              <a:t>First In, First Out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for serialized items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12422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Serial Number Lookup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427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20" y="1190625"/>
            <a:ext cx="18478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Find by Serial Number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4914777" cy="419100"/>
          </a:xfrm>
          <a:prstGeom prst="roundRect">
            <a:avLst>
              <a:gd name="adj" fmla="val 3636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718797" y="1786254"/>
            <a:ext cx="4191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8674" y="1724024"/>
            <a:ext cx="46671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Navigate: Inventory → Serial Tracking → Lookup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27" y="2143125"/>
            <a:ext cx="491477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View Details: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371725"/>
            <a:ext cx="2419289" cy="352424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27" y="2371725"/>
            <a:ext cx="2419289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Product details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71525" y="2484500"/>
            <a:ext cx="133346" cy="11734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3390815" y="2371725"/>
            <a:ext cx="2419289" cy="352424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90815" y="2371725"/>
            <a:ext cx="2419289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Current status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467013" y="2484500"/>
            <a:ext cx="133346" cy="11734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95327" y="2800350"/>
            <a:ext cx="2419289" cy="352424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327" y="2800350"/>
            <a:ext cx="2419289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Purchase date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71525" y="2913125"/>
            <a:ext cx="133346" cy="11734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3390815" y="2800350"/>
            <a:ext cx="2419289" cy="352424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90815" y="2800350"/>
            <a:ext cx="2419289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Customer info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467013" y="2921127"/>
            <a:ext cx="133346" cy="10134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95327" y="3228975"/>
            <a:ext cx="2419289" cy="352424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5327" y="3228975"/>
            <a:ext cx="2419289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Warranty status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71525" y="3339083"/>
            <a:ext cx="133346" cy="122681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3390815" y="3228975"/>
            <a:ext cx="2419289" cy="352424"/>
          </a:xfrm>
          <a:prstGeom prst="roundRect">
            <a:avLst>
              <a:gd name="adj" fmla="val 21621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90815" y="3228975"/>
            <a:ext cx="2419289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Service history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467013" y="3347085"/>
            <a:ext cx="133346" cy="10668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19689" y="1248335"/>
            <a:ext cx="190495" cy="15127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86382" y="1190625"/>
            <a:ext cx="14763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Find by Customer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19689" y="1609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689" y="1609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4481" y="1609724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Go to </a:t>
            </a:r>
            <a:r>
              <a:rPr sz="837" b="1">
                <a:solidFill>
                  <a:srgbClr val="0284C7"/>
                </a:solidFill>
                <a:latin typeface="Inter"/>
                <a:rFonts ascii="Inter" hAnsi="Inter" eastAsia="Inter" cs="Inter"/>
              </a:rPr>
              <a:t>customer profile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19689" y="19526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689" y="19526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4481" y="1952624"/>
            <a:ext cx="15715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0284C7"/>
                </a:solidFill>
                <a:latin typeface="Inter"/>
                <a:rFonts ascii="Inter" hAnsi="Inter" eastAsia="Inter" cs="Inter"/>
              </a:rPr>
              <a:t>"Purchased Items"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19689" y="2295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76838" y="2372157"/>
            <a:ext cx="114297" cy="7533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724481" y="2295525"/>
            <a:ext cx="22668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all serialized items purchased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19689" y="2638425"/>
            <a:ext cx="4914777" cy="428625"/>
          </a:xfrm>
          <a:prstGeom prst="roundRect">
            <a:avLst>
              <a:gd name="adj" fmla="val 35555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6238397" y="2819717"/>
            <a:ext cx="428625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53036" y="2752725"/>
            <a:ext cx="466713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on serial number for details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553036" y="2777490"/>
            <a:ext cx="133346" cy="160020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28614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Warranty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1211"/>
            <a:ext cx="171445" cy="1493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1334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Setting Periods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33525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Set warranty when adding product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1664970"/>
            <a:ext cx="133346" cy="8001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57228" y="1981199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28" y="1981199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65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Default by category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2112645"/>
            <a:ext cx="133346" cy="8001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57228" y="2428875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28" y="2428875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65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Override for specific items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2560320"/>
            <a:ext cx="133346" cy="8001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24261" y="1211211"/>
            <a:ext cx="171445" cy="1493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71905" y="1171575"/>
            <a:ext cx="138109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Warranty Tracking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4261" y="1533525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4261" y="1533525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Tracks start date (sale date)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00459" y="1646301"/>
            <a:ext cx="133346" cy="11734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524261" y="1962149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4261" y="1962149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Calculates expiry date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600459" y="2080260"/>
            <a:ext cx="133346" cy="10668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4524261" y="2390774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4381069" y="2533966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4261" y="2390774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Alerts when nearing expiry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619509" y="2504884"/>
            <a:ext cx="133346" cy="114681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200819" y="1216741"/>
            <a:ext cx="171445" cy="13826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448463" y="1171575"/>
            <a:ext cx="1238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Warranty Claims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00819" y="15335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00819" y="15335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67513" y="1533525"/>
            <a:ext cx="121916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File claim, select serial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00819" y="18002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00819" y="18002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7513" y="1800225"/>
            <a:ext cx="9239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Issue description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00819" y="2066924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00819" y="206692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67513" y="2066924"/>
            <a:ext cx="101914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Upload documents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00819" y="2333624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8057627" y="2476816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96067" y="2409825"/>
            <a:ext cx="300029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Track claim status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96067" y="2457068"/>
            <a:ext cx="133346" cy="96012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95297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Contractor Dashboard &amp;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39119" y="247649"/>
            <a:ext cx="1285842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39119" y="247649"/>
            <a:ext cx="128584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7.1 - 7.2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245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2516" y="1276350"/>
            <a:ext cx="6191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7811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1781174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1781174"/>
            <a:ext cx="24573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"Contractors"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left sidebar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81590" y="1292941"/>
            <a:ext cx="171445" cy="13826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29234" y="1247775"/>
            <a:ext cx="15620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Dashboard Overview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1590" y="1609724"/>
            <a:ext cx="1600159" cy="57150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6128860" y="1862454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6838" y="1685925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156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838" y="1952624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Total Contractors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7948" y="1609724"/>
            <a:ext cx="1600159" cy="571500"/>
          </a:xfrm>
          <a:prstGeom prst="roundRect">
            <a:avLst>
              <a:gd name="adj" fmla="val 2666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7805218" y="1862454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3196" y="1685925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142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3196" y="1952624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Active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4306" y="1609724"/>
            <a:ext cx="1600159" cy="571500"/>
          </a:xfrm>
          <a:prstGeom prst="roundRect">
            <a:avLst>
              <a:gd name="adj" fmla="val 2666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9481576" y="1862454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554" y="1685925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$45K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554" y="1952624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Credit Extended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1590" y="2257425"/>
            <a:ext cx="1600159" cy="571500"/>
          </a:xfrm>
          <a:prstGeom prst="roundRect">
            <a:avLst>
              <a:gd name="adj" fmla="val 26666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6128860" y="2510155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6838" y="2333624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$12K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6838" y="2600325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Outstanding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7948" y="2257425"/>
            <a:ext cx="1600159" cy="571500"/>
          </a:xfrm>
          <a:prstGeom prst="roundRect">
            <a:avLst>
              <a:gd name="adj" fmla="val 26666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7805218" y="2510155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53196" y="2333624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D97706"/>
                </a:solidFill>
                <a:latin typeface="Inter"/>
                <a:rFonts ascii="Inter" hAnsi="Inter" eastAsia="Inter" cs="Inter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3196" y="2600325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Overdue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34306" y="2257425"/>
            <a:ext cx="1600159" cy="571500"/>
          </a:xfrm>
          <a:prstGeom prst="roundRect">
            <a:avLst>
              <a:gd name="adj" fmla="val 2666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 rot="16200000">
            <a:off x="9481576" y="2510155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9554" y="2333624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$3.2K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554" y="2600325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Today's Sales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67665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Adding a New Contractor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337" y="247649"/>
            <a:ext cx="1009624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337" y="247649"/>
            <a:ext cx="100962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6741"/>
            <a:ext cx="171445" cy="1382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5143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33525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Company name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1664970"/>
            <a:ext cx="133346" cy="8001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57228" y="1943100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228" y="1943100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Contact person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2074544"/>
            <a:ext cx="133346" cy="8001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57228" y="2352675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28" y="2352675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Phone &amp; Email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2484120"/>
            <a:ext cx="133346" cy="8001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57228" y="2762249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228" y="2762249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Physical address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2893695"/>
            <a:ext cx="133346" cy="8001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57228" y="3171825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228" y="3171825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Business registration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3303270"/>
            <a:ext cx="133346" cy="8001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57228" y="3581400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7228" y="3581400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39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Tax clearance number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3712845"/>
            <a:ext cx="133346" cy="8001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24261" y="1216741"/>
            <a:ext cx="171445" cy="13826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771905" y="1171575"/>
            <a:ext cx="9620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Credit Terms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4261" y="1533525"/>
            <a:ext cx="3171745" cy="3048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4404881" y="16529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9509" y="1609724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Credit limit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24261" y="1895474"/>
            <a:ext cx="3171745" cy="476249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4319157" y="2100578"/>
            <a:ext cx="4762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9509" y="1971675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Payment terms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9509" y="2143125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7, 14, or 30 days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24261" y="2428875"/>
            <a:ext cx="3171745" cy="3048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4404881" y="254825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19509" y="2505074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Trade discount 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24261" y="2790824"/>
            <a:ext cx="3171745" cy="304800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4404881" y="2910204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9509" y="2867025"/>
            <a:ext cx="30002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Special pricing tier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00819" y="1211211"/>
            <a:ext cx="171445" cy="14932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448463" y="1171575"/>
            <a:ext cx="8572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Documents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00819" y="1533525"/>
            <a:ext cx="3171745" cy="619124"/>
          </a:xfrm>
          <a:prstGeom prst="roundRect">
            <a:avLst>
              <a:gd name="adj" fmla="val 24615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 rot="16200000">
            <a:off x="7924277" y="1810067"/>
            <a:ext cx="6191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334166" y="1693926"/>
            <a:ext cx="133346" cy="11734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334166" y="1885950"/>
            <a:ext cx="29241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Business Registration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00819" y="2228850"/>
            <a:ext cx="3171745" cy="619124"/>
          </a:xfrm>
          <a:prstGeom prst="roundRect">
            <a:avLst>
              <a:gd name="adj" fmla="val 24615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 rot="16200000">
            <a:off x="7924277" y="2505392"/>
            <a:ext cx="6191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334166" y="2389251"/>
            <a:ext cx="133346" cy="11734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334166" y="2581275"/>
            <a:ext cx="29241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Tax Clearance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00819" y="2924175"/>
            <a:ext cx="3171745" cy="619124"/>
          </a:xfrm>
          <a:prstGeom prst="roundRect">
            <a:avLst>
              <a:gd name="adj" fmla="val 24615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 Same Side Corner Rectangle 59"/>
          <p:cNvSpPr/>
          <p:nvPr/>
        </p:nvSpPr>
        <p:spPr>
          <a:xfrm rot="16200000">
            <a:off x="7924277" y="3200717"/>
            <a:ext cx="6191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334166" y="3084575"/>
            <a:ext cx="133346" cy="11734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334166" y="3276599"/>
            <a:ext cx="29241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ID Copy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19099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Contractor Profile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5812" y="247649"/>
            <a:ext cx="1019149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5812" y="247649"/>
            <a:ext cx="101914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6741"/>
            <a:ext cx="171445" cy="1382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0191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Overview Tab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2457388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33525"/>
            <a:ext cx="2457388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Contact info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1618297"/>
            <a:ext cx="133346" cy="17335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390815" y="1533525"/>
            <a:ext cx="2457388" cy="352424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90815" y="1533525"/>
            <a:ext cx="2457388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Credit limit &amp; balance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467013" y="1651635"/>
            <a:ext cx="133346" cy="1066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57228" y="1962149"/>
            <a:ext cx="2457388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28" y="1962149"/>
            <a:ext cx="2457388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Available credit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2077593"/>
            <a:ext cx="133346" cy="11201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390815" y="1962149"/>
            <a:ext cx="2457388" cy="352424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90815" y="1962149"/>
            <a:ext cx="2457388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Payment terms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467013" y="2074926"/>
            <a:ext cx="133346" cy="11734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57228" y="2390774"/>
            <a:ext cx="2457388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228" y="2390774"/>
            <a:ext cx="2457388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Trade discount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33426" y="2503550"/>
            <a:ext cx="133346" cy="11734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3390815" y="2390774"/>
            <a:ext cx="2457388" cy="352424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90815" y="2390774"/>
            <a:ext cx="2457388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Total purchases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467013" y="2503550"/>
            <a:ext cx="133346" cy="11734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857228" y="2819399"/>
            <a:ext cx="4990975" cy="352424"/>
          </a:xfrm>
          <a:prstGeom prst="roundRect">
            <a:avLst>
              <a:gd name="adj" fmla="val 21621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7228" y="2819399"/>
            <a:ext cx="499097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Average monthly spend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33426" y="2950845"/>
            <a:ext cx="133346" cy="8001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381590" y="1211211"/>
            <a:ext cx="171445" cy="14932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629234" y="1171575"/>
            <a:ext cx="17811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Transaction History Tab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81590" y="15335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1590" y="15335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8283" y="1533525"/>
            <a:ext cx="18097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List of all </a:t>
            </a:r>
            <a:r>
              <a:rPr sz="837" b="1">
                <a:solidFill>
                  <a:srgbClr val="0284C7"/>
                </a:solidFill>
                <a:latin typeface="Inter"/>
                <a:rFonts ascii="Inter" hAnsi="Inter" eastAsia="Inter" cs="Inter"/>
              </a:rPr>
              <a:t>sales to contractor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81590" y="18002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1590" y="18002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48283" y="1800225"/>
            <a:ext cx="121916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Filter by date range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81590" y="2066924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1590" y="2066924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48283" y="2066924"/>
            <a:ext cx="15049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individual invoices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81590" y="2333624"/>
            <a:ext cx="4990975" cy="352424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6238398" y="2476816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6838" y="2409825"/>
            <a:ext cx="481952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payment history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76838" y="2454402"/>
            <a:ext cx="133346" cy="101346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23871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Contractor Invoices &amp; Statements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5812" y="247649"/>
            <a:ext cx="1019149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5812" y="247649"/>
            <a:ext cx="101914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11211"/>
            <a:ext cx="171445" cy="1493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9334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Invoices Tab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2457388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714036" y="1676717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28" y="1533525"/>
            <a:ext cx="2457388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Outstanding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52476" y="1646301"/>
            <a:ext cx="133346" cy="11734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390815" y="1533525"/>
            <a:ext cx="2457388" cy="352424"/>
          </a:xfrm>
          <a:prstGeom prst="roundRect">
            <a:avLst>
              <a:gd name="adj" fmla="val 2162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247623" y="1676717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90815" y="1533525"/>
            <a:ext cx="2457388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Overdue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486062" y="1648968"/>
            <a:ext cx="133346" cy="11201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57228" y="1962149"/>
            <a:ext cx="2457388" cy="352424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714036" y="2105341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228" y="1962149"/>
            <a:ext cx="2457388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Paid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52476" y="2074926"/>
            <a:ext cx="133346" cy="11734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3390815" y="1962149"/>
            <a:ext cx="2457388" cy="352424"/>
          </a:xfrm>
          <a:prstGeom prst="roundRect">
            <a:avLst>
              <a:gd name="adj" fmla="val 2162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247623" y="2105341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90815" y="1962149"/>
            <a:ext cx="2457388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Aging summary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486062" y="2080260"/>
            <a:ext cx="133346" cy="10668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57228" y="2428875"/>
            <a:ext cx="4990975" cy="685800"/>
          </a:xfrm>
          <a:prstGeom prst="roundRect">
            <a:avLst>
              <a:gd name="adj" fmla="val 1111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3426" y="2505074"/>
            <a:ext cx="48385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Invoice Details: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426" y="2695575"/>
            <a:ext cx="2400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Number &amp; 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71765" y="2695575"/>
            <a:ext cx="2400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Due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426" y="2886075"/>
            <a:ext cx="2400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Items, subtotal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71765" y="2886075"/>
            <a:ext cx="2400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Discount, tax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381590" y="1211211"/>
            <a:ext cx="171445" cy="14932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29234" y="1171575"/>
            <a:ext cx="11620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Statements Tab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81590" y="15335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1590" y="15335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48283" y="1533525"/>
            <a:ext cx="11048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date range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81590" y="1800225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1590" y="1800225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48283" y="1800225"/>
            <a:ext cx="10762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0284C7"/>
                </a:solidFill>
                <a:latin typeface="Inter"/>
                <a:rFonts ascii="Inter" hAnsi="Inter" eastAsia="Inter" cs="Inter"/>
              </a:rPr>
              <a:t>"Generate"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81590" y="2066924"/>
            <a:ext cx="190495" cy="190499"/>
          </a:xfrm>
          <a:prstGeom prst="roundRect">
            <a:avLst>
              <a:gd name="adj" fmla="val 9999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19689" y="2124507"/>
            <a:ext cx="114297" cy="7533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648283" y="2066924"/>
            <a:ext cx="17144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Print or email to contractor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81590" y="2371725"/>
            <a:ext cx="4990975" cy="495299"/>
          </a:xfrm>
          <a:prstGeom prst="roundRect">
            <a:avLst>
              <a:gd name="adj" fmla="val 15384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6166961" y="2586354"/>
            <a:ext cx="4952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6838" y="2447924"/>
            <a:ext cx="48195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Includes: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6838" y="2638425"/>
            <a:ext cx="48195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Opening balance, invoices, payments, closing balance, aging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29576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Processing Contractor Sales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337" y="247649"/>
            <a:ext cx="1009624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337" y="247649"/>
            <a:ext cx="100962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046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3921" y="1152524"/>
            <a:ext cx="12763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At Point of Sale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716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28" y="15716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20" y="1571625"/>
            <a:ext cx="22573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contractor from customer 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228" y="1876424"/>
            <a:ext cx="4990975" cy="571500"/>
          </a:xfrm>
          <a:prstGeom prst="roundRect">
            <a:avLst>
              <a:gd name="adj" fmla="val 13333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604498" y="2129154"/>
            <a:ext cx="5715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476" y="1952624"/>
            <a:ext cx="48195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Displays: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2476" y="2143125"/>
            <a:ext cx="158111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476" y="2143125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Available credit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71685" y="2143125"/>
            <a:ext cx="158111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71685" y="2143125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Current balance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90895" y="2143125"/>
            <a:ext cx="158111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0895" y="2143125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Trade discount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228" y="25241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228" y="25241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2020" y="2524125"/>
            <a:ext cx="10762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items to cart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7228" y="28289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2905557"/>
            <a:ext cx="114297" cy="7533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62020" y="2828925"/>
            <a:ext cx="18192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Trade discount auto-applied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381590" y="1204632"/>
            <a:ext cx="190495" cy="1624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48283" y="1152524"/>
            <a:ext cx="12096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Complete Sale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81590" y="1571625"/>
            <a:ext cx="4990975" cy="41910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6205060" y="1748155"/>
            <a:ext cx="4191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4937" y="1685925"/>
            <a:ext cx="47433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Complete as </a:t>
            </a:r>
            <a:r>
              <a:rPr sz="837" b="1">
                <a:solidFill>
                  <a:srgbClr val="0284C7"/>
                </a:solidFill>
                <a:latin typeface="Inter"/>
                <a:rFonts ascii="Inter" hAnsi="Inter" eastAsia="Inter" cs="Inter"/>
              </a:rPr>
              <a:t>"Credit Account"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81590" y="2105024"/>
            <a:ext cx="4990975" cy="647699"/>
          </a:xfrm>
          <a:prstGeom prst="roundRect">
            <a:avLst>
              <a:gd name="adj" fmla="val 1176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6090761" y="2395853"/>
            <a:ext cx="6476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14937" y="2268310"/>
            <a:ext cx="152396" cy="1306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05432" y="2238375"/>
            <a:ext cx="11715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Invoice Generated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4937" y="2486025"/>
            <a:ext cx="474333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Contractor balance updated automatically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FF7ED"/>
            </a:gs>
            <a:gs pos="50000">
              <a:srgbClr val="FED7AA"/>
            </a:gs>
            <a:gs pos="100000">
              <a:srgbClr val="E0F2FE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EA580C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0284C7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68608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Credit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24861" y="247649"/>
            <a:ext cx="1000099" cy="304800"/>
          </a:xfrm>
          <a:prstGeom prst="roundRect">
            <a:avLst>
              <a:gd name="adj" fmla="val 6249375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24861" y="247649"/>
            <a:ext cx="10000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227803"/>
            <a:ext cx="171445" cy="1161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4872" y="1171575"/>
            <a:ext cx="13048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Credit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28" y="1533525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714036" y="1676717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28" y="1533525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Dashboard shows near-limit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52476" y="1651635"/>
            <a:ext cx="133346" cy="1066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57228" y="1962149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714036" y="2105341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228" y="1962149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Alert at 80% of limit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2476" y="2077593"/>
            <a:ext cx="133346" cy="11201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57228" y="2390774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714036" y="2533966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228" y="2390774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Blocks over limit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52476" y="2503550"/>
            <a:ext cx="133346" cy="11734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57228" y="2819399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228" y="2819399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 Manager can override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33426" y="2932175"/>
            <a:ext cx="133346" cy="11734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524261" y="1216741"/>
            <a:ext cx="171445" cy="13826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71905" y="1171575"/>
            <a:ext cx="9715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Aging Report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4261" y="1533525"/>
            <a:ext cx="3171745" cy="457200"/>
          </a:xfrm>
          <a:prstGeom prst="roundRect">
            <a:avLst>
              <a:gd name="adj" fmla="val 1666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00459" y="1609724"/>
            <a:ext cx="301934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5803D"/>
                </a:solidFill>
                <a:latin typeface="Inter"/>
                <a:rFonts ascii="Inter" hAnsi="Inter" eastAsia="Inter" cs="Inter"/>
              </a:rPr>
              <a:t>Current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0459" y="1762125"/>
            <a:ext cx="301934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0-30 days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4261" y="2047874"/>
            <a:ext cx="3171745" cy="3048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00459" y="2124075"/>
            <a:ext cx="301934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284C7"/>
                </a:solidFill>
                <a:latin typeface="Inter"/>
                <a:rFonts ascii="Inter" hAnsi="Inter" eastAsia="Inter" cs="Inter"/>
              </a:rPr>
              <a:t>31-60 days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4261" y="2409825"/>
            <a:ext cx="3171745" cy="3048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00459" y="2486025"/>
            <a:ext cx="301934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61-90 days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24261" y="2771775"/>
            <a:ext cx="3171745" cy="30480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00459" y="2847974"/>
            <a:ext cx="301934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90+ days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24261" y="3152775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4261" y="3152775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Export for collection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600459" y="3272218"/>
            <a:ext cx="133346" cy="104013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200819" y="1211211"/>
            <a:ext cx="171445" cy="14932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448463" y="1171575"/>
            <a:ext cx="12286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Collection Notes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00819" y="1533525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8057627" y="1676717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00819" y="1533525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Contact date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96067" y="1646301"/>
            <a:ext cx="133346" cy="117348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8200819" y="1962149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 Same Side Corner Rectangle 51"/>
          <p:cNvSpPr/>
          <p:nvPr/>
        </p:nvSpPr>
        <p:spPr>
          <a:xfrm rot="16200000">
            <a:off x="8057627" y="2105341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00819" y="1962149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Conversation summary 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296067" y="2074926"/>
            <a:ext cx="133346" cy="117348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8200819" y="2390774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 rot="16200000">
            <a:off x="8057627" y="2533966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00819" y="2390774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Promise to pay date 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296067" y="2503550"/>
            <a:ext cx="133346" cy="117348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8200819" y="2819399"/>
            <a:ext cx="3171745" cy="352424"/>
          </a:xfrm>
          <a:prstGeom prst="roundRect">
            <a:avLst>
              <a:gd name="adj" fmla="val 21621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 Same Side Corner Rectangle 59"/>
          <p:cNvSpPr/>
          <p:nvPr/>
        </p:nvSpPr>
        <p:spPr>
          <a:xfrm rot="16200000">
            <a:off x="8057627" y="2962591"/>
            <a:ext cx="352424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00819" y="2819399"/>
            <a:ext cx="3171745" cy="3524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Set follow-up reminder 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296067" y="2932175"/>
            <a:ext cx="133346" cy="117348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50000">
                <a:srgbClr val="0284C7"/>
              </a:gs>
              <a:gs pos="100000">
                <a:srgbClr val="EA580C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