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44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44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5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46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25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39.png"/><Relationship Id="rId5" Type="http://schemas.openxmlformats.org/officeDocument/2006/relationships/image" Target="../media/image116.png"/><Relationship Id="rId6" Type="http://schemas.openxmlformats.org/officeDocument/2006/relationships/image" Target="../media/image40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image" Target="../media/image128.png"/><Relationship Id="rId19" Type="http://schemas.openxmlformats.org/officeDocument/2006/relationships/image" Target="../media/image129.png"/><Relationship Id="rId20" Type="http://schemas.openxmlformats.org/officeDocument/2006/relationships/image" Target="../media/image130.png"/><Relationship Id="rId21" Type="http://schemas.openxmlformats.org/officeDocument/2006/relationships/image" Target="../media/image131.png"/><Relationship Id="rId22" Type="http://schemas.openxmlformats.org/officeDocument/2006/relationships/image" Target="../media/image132.png"/><Relationship Id="rId23" Type="http://schemas.openxmlformats.org/officeDocument/2006/relationships/image" Target="../media/image44.png"/><Relationship Id="rId24" Type="http://schemas.openxmlformats.org/officeDocument/2006/relationships/image" Target="../media/image10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1.png"/><Relationship Id="rId4" Type="http://schemas.openxmlformats.org/officeDocument/2006/relationships/image" Target="../media/image134.png"/><Relationship Id="rId5" Type="http://schemas.openxmlformats.org/officeDocument/2006/relationships/image" Target="../media/image103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Relationship Id="rId11" Type="http://schemas.openxmlformats.org/officeDocument/2006/relationships/image" Target="../media/image140.png"/><Relationship Id="rId12" Type="http://schemas.openxmlformats.org/officeDocument/2006/relationships/image" Target="../media/image141.png"/><Relationship Id="rId13" Type="http://schemas.openxmlformats.org/officeDocument/2006/relationships/image" Target="../media/image142.png"/><Relationship Id="rId14" Type="http://schemas.openxmlformats.org/officeDocument/2006/relationships/image" Target="../media/image143.png"/><Relationship Id="rId15" Type="http://schemas.openxmlformats.org/officeDocument/2006/relationships/image" Target="../media/image144.png"/><Relationship Id="rId16" Type="http://schemas.openxmlformats.org/officeDocument/2006/relationships/image" Target="../media/image145.png"/><Relationship Id="rId17" Type="http://schemas.openxmlformats.org/officeDocument/2006/relationships/image" Target="../media/image146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09.png"/><Relationship Id="rId21" Type="http://schemas.openxmlformats.org/officeDocument/2006/relationships/image" Target="../media/image149.png"/><Relationship Id="rId22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5966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1609684" cy="419100"/>
          </a:xfrm>
          <a:prstGeom prst="roundRect">
            <a:avLst>
              <a:gd name="adj" fmla="val 454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160968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7-9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Supplier, Patient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Reports Management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Operations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390650"/>
            <a:ext cx="2800279" cy="4076699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752372" y="3362959"/>
            <a:ext cx="4076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69544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1145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279332"/>
            <a:ext cx="228594" cy="1657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114550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90799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Purchasing &amp;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29718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48012"/>
            <a:ext cx="228594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297180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19449"/>
            <a:ext cx="158111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Profiles &amp; Communication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909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95001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9094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&amp;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403859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Compliance &amp;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95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34865"/>
            <a:ext cx="228594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95799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Regulatory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97205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MCAZ &amp; ZIMRA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1912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Supplier Management - Accessing &amp; Adding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39119" y="247649"/>
            <a:ext cx="1285842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39119" y="247649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7.1 - 7.2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20031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66023" y="1600835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83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590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590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69" y="157162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"Suppliers"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486025"/>
            <a:ext cx="320031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6023" y="3086735"/>
            <a:ext cx="133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739838"/>
            <a:ext cx="190495" cy="1400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2020" y="2676524"/>
            <a:ext cx="7524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3076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3076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169" y="3057525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"Add New Supplier"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971925"/>
            <a:ext cx="3200319" cy="2657475"/>
          </a:xfrm>
          <a:prstGeom prst="roundRect">
            <a:avLst>
              <a:gd name="adj" fmla="val 8602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4182835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7248" y="4152899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Optional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54" y="4438649"/>
            <a:ext cx="2876478" cy="2095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products they supply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4508944"/>
            <a:ext cx="133346" cy="8801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54" y="4705350"/>
            <a:ext cx="2876478" cy="2095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Note licenses/registrations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4775644"/>
            <a:ext cx="133346" cy="8801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057548" y="1000125"/>
            <a:ext cx="746741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248043" y="1283970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52836" y="1247775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Supplier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8043" y="1685925"/>
            <a:ext cx="2285942" cy="1333500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371865" y="1864178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81410" y="1847849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Basic Info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71865" y="2156979"/>
            <a:ext cx="114297" cy="67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24261" y="2114550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Supplier name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71865" y="2366529"/>
            <a:ext cx="114297" cy="675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24261" y="2324100"/>
            <a:ext cx="8286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Contact person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71865" y="2576079"/>
            <a:ext cx="114297" cy="675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24261" y="2533649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71865" y="2785629"/>
            <a:ext cx="114297" cy="675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24261" y="2743200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48283" y="1685925"/>
            <a:ext cx="2285942" cy="1333500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72105" y="1858735"/>
            <a:ext cx="152396" cy="1306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81650" y="1847849"/>
            <a:ext cx="4857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Location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2156979"/>
            <a:ext cx="114297" cy="675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24501" y="2114550"/>
            <a:ext cx="9143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Physical address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2366529"/>
            <a:ext cx="114297" cy="675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24501" y="2324100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2576079"/>
            <a:ext cx="114297" cy="675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24501" y="2533649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Lead time (days)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2785629"/>
            <a:ext cx="114297" cy="675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924501" y="2743200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Min order amount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8523" y="1685925"/>
            <a:ext cx="2285942" cy="1333500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172345" y="1856014"/>
            <a:ext cx="152396" cy="13607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890" y="1847849"/>
            <a:ext cx="4952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Licenses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72345" y="2156979"/>
            <a:ext cx="114297" cy="675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24741" y="21145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MCAZ registration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72345" y="2366529"/>
            <a:ext cx="114297" cy="675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24741" y="2324100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Import permits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72345" y="2576079"/>
            <a:ext cx="114297" cy="675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324741" y="2533649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Cold chain capability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62880" y="3171825"/>
            <a:ext cx="1571585" cy="3809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0"/>
            <a:ext cx="9381890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Pharmaceutical Supplier Specifics &amp;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8643" y="323849"/>
            <a:ext cx="1276318" cy="495299"/>
          </a:xfrm>
          <a:prstGeom prst="roundRect">
            <a:avLst>
              <a:gd name="adj" fmla="val 3845769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8643" y="323849"/>
            <a:ext cx="127631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7.3 - 7.4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352549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682563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628775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Pharmaceutical Specifics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33599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262759"/>
            <a:ext cx="133346" cy="1226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2228850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license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590799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722625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0119" y="2686050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MCAZ registration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3047999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17982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0119" y="3143250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cold chain capability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505199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3645027"/>
            <a:ext cx="133346" cy="1013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119" y="3600450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delivery reliability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4038599"/>
            <a:ext cx="3314617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624" y="4152899"/>
            <a:ext cx="30860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For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temperature-sensitive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935" y="1352549"/>
            <a:ext cx="693402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81430" y="163325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48123" y="1581149"/>
            <a:ext cx="22097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Creating a Purchase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81430" y="1962149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76678" y="2076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8" y="2076449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3371" y="2057400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3371" y="2247899"/>
            <a:ext cx="15906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Suppliers → Purchase Orders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5097" y="1962149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10344" y="2076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0344" y="2076449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038" y="2057400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038" y="2247899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"New Purchase Order"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81430" y="2609850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76678" y="272415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76678" y="2724150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3371" y="2705099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Supplier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3371" y="2895600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list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5097" y="2609850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10344" y="2724150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0344" y="2724150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7038" y="2705099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Delivery 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7038" y="2895600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Expected date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81430" y="3257550"/>
            <a:ext cx="6553036" cy="1000125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F0FDFA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95727" y="339089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5727" y="3390899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2420" y="3371850"/>
            <a:ext cx="60577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Products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62420" y="3638550"/>
            <a:ext cx="1971625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076798" y="3748468"/>
            <a:ext cx="133346" cy="10401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229094" y="3924299"/>
            <a:ext cx="18382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Search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10244" y="3638550"/>
            <a:ext cx="1971625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24621" y="3741800"/>
            <a:ext cx="133346" cy="1173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276918" y="3924299"/>
            <a:ext cx="18382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Quantity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48543" y="3638550"/>
            <a:ext cx="1971625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172445" y="3747135"/>
            <a:ext cx="133346" cy="1066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315217" y="3924299"/>
            <a:ext cx="18382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Unit Cost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81430" y="4371975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876678" y="44862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76678" y="44862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43371" y="4467224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Total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43371" y="4657725"/>
            <a:ext cx="1200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order summary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15097" y="4371975"/>
            <a:ext cx="3219369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210344" y="44862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10344" y="44862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77038" y="4467224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/ Send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038" y="46577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Draft or Send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81430" y="5019675"/>
            <a:ext cx="6553036" cy="380999"/>
          </a:xfrm>
          <a:prstGeom prst="roundRect">
            <a:avLst>
              <a:gd name="adj" fmla="val 4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876678" y="5151501"/>
            <a:ext cx="133346" cy="11734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086222" y="5133975"/>
            <a:ext cx="26383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 </a:t>
            </a:r>
            <a:r>
              <a:rPr sz="717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cold chain requirements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sensitive items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481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Receiving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12432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13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28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99" y="1666874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09724"/>
            <a:ext cx="26478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Pending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00225"/>
            <a:ext cx="264788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Suppliers → Purchase Orders → Pending Receipt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0859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575" y="21240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066924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Order to Receive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257425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Click on order from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5431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50" y="25812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18" y="252412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"Receive Order"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29432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050" y="29813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18" y="292417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Received Quantities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6318" y="3114675"/>
            <a:ext cx="16573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May differ from ordered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381375"/>
            <a:ext cx="4705232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544660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38219" y="3533774"/>
            <a:ext cx="38289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Important: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System updates inventory automatically with batch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1550" y="1000125"/>
            <a:ext cx="554341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172045" y="1286435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38739" y="1228725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For Each Item Enter: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045" y="1609724"/>
            <a:ext cx="2524061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1765935"/>
            <a:ext cx="133346" cy="106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5887" y="1724024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Number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10404" y="1609724"/>
            <a:ext cx="2524061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24701" y="1760601"/>
            <a:ext cx="133346" cy="1173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34246" y="1724024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Expiry 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045" y="2181225"/>
            <a:ext cx="2524061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86342" y="2326767"/>
            <a:ext cx="133346" cy="1280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95887" y="2295525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Manufacturing 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10404" y="2181225"/>
            <a:ext cx="2524061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24701" y="2332101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34246" y="229552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Cold Chain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045" y="2790824"/>
            <a:ext cx="5162420" cy="628650"/>
          </a:xfrm>
          <a:prstGeom prst="roundRect">
            <a:avLst>
              <a:gd name="adj" fmla="val 2424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95867" y="2951225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05412" y="291465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Receiving Notes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5867" y="3143250"/>
            <a:ext cx="49147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Document any issues or observations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045" y="3571875"/>
            <a:ext cx="5162420" cy="495299"/>
          </a:xfrm>
          <a:prstGeom prst="roundRect">
            <a:avLst>
              <a:gd name="adj" fmla="val 30769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2769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Patient Management - Accessing &amp;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8.1 - 8.2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306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95399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50" y="187642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19275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"Patients"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271032"/>
            <a:ext cx="152396" cy="12518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95327" y="2562224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704718"/>
            <a:ext cx="133346" cy="960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2657475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all patients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3019424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157918"/>
            <a:ext cx="133346" cy="10401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0119" y="3114675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476624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3627120"/>
            <a:ext cx="133346" cy="800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571875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933824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4072318"/>
            <a:ext cx="133346" cy="10401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0119" y="4029075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0935" y="1000125"/>
            <a:ext cx="693402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781430" y="1300442"/>
            <a:ext cx="190495" cy="1232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48123" y="1228725"/>
            <a:ext cx="9334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39119" y="1228725"/>
            <a:ext cx="1095347" cy="266699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81430" y="1609724"/>
            <a:ext cx="6553036" cy="438149"/>
          </a:xfrm>
          <a:prstGeom prst="roundRect">
            <a:avLst>
              <a:gd name="adj" fmla="val 3478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86202" y="1741646"/>
            <a:ext cx="228594" cy="1743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0995" y="1733550"/>
            <a:ext cx="26955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Search by name, phone, or patient number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1430" y="2162174"/>
            <a:ext cx="933426" cy="285750"/>
          </a:xfrm>
          <a:prstGeom prst="roundRect">
            <a:avLst>
              <a:gd name="adj" fmla="val 26666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81430" y="2162174"/>
            <a:ext cx="93342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Insurance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886202" y="2246376"/>
            <a:ext cx="133346" cy="1173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791055" y="2162174"/>
            <a:ext cx="1304892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1055" y="2162174"/>
            <a:ext cx="130489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Medication Type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95827" y="2251710"/>
            <a:ext cx="133346" cy="10668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162620" y="2162174"/>
            <a:ext cx="971525" cy="28575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62620" y="2162174"/>
            <a:ext cx="97152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Export List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267393" y="2253043"/>
            <a:ext cx="133346" cy="104013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781430" y="2562224"/>
            <a:ext cx="655303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76678" y="26955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6678" y="26955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JM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9569" y="265747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John Moyo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9569" y="2847974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+263 77 123 4567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753456" y="2752725"/>
            <a:ext cx="485762" cy="180975"/>
          </a:xfrm>
          <a:prstGeom prst="roundRect">
            <a:avLst>
              <a:gd name="adj" fmla="val 42105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53456" y="2752725"/>
            <a:ext cx="485762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5803D"/>
                </a:solidFill>
                <a:latin typeface="Inter"/>
                <a:rFonts ascii="Inter" hAnsi="Inter" eastAsia="Inter" cs="Inter"/>
              </a:rPr>
              <a:t>Active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81430" y="3171825"/>
            <a:ext cx="6553036" cy="5333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876678" y="3305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6678" y="3305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9569" y="3267075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Sarah Mutasa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9569" y="3457575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+263 71 234 5678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67733" y="3362324"/>
            <a:ext cx="571485" cy="180975"/>
          </a:xfrm>
          <a:prstGeom prst="roundRect">
            <a:avLst>
              <a:gd name="adj" fmla="val 4210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67733" y="3362324"/>
            <a:ext cx="57148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D4ED8"/>
                </a:solidFill>
                <a:latin typeface="Inter"/>
                <a:rFonts ascii="Inter" hAnsi="Inter" eastAsia="Inter" cs="Inter"/>
              </a:rPr>
              <a:t>Chronic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81430" y="3781424"/>
            <a:ext cx="6553036" cy="5333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876678" y="3914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76678" y="3914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9569" y="3876674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Tawanda Chinembiri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9569" y="4067174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+263 86 345 6789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839179" y="3971925"/>
            <a:ext cx="400039" cy="180975"/>
          </a:xfrm>
          <a:prstGeom prst="roundRect">
            <a:avLst>
              <a:gd name="adj" fmla="val 42105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39179" y="3971925"/>
            <a:ext cx="400039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2410C"/>
                </a:solidFill>
                <a:latin typeface="Inter"/>
                <a:rFonts ascii="Inter" hAnsi="Inter" eastAsia="Inter" cs="Inter"/>
              </a:rPr>
              <a:t>New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718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Adding a New 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279422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1238249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573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770126"/>
            <a:ext cx="133346" cy="1173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1752599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Full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764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185225"/>
            <a:ext cx="133346" cy="1253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971" y="2171700"/>
            <a:ext cx="6762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of Birth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4955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60832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2971" y="2590799"/>
            <a:ext cx="4000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Gender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29146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3032760"/>
            <a:ext cx="133346" cy="106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3009900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33337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3454527"/>
            <a:ext cx="133346" cy="10134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2971" y="3429000"/>
            <a:ext cx="7715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7528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33426" y="3872293"/>
            <a:ext cx="133346" cy="10401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2971" y="3848099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Physical Address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228" y="41719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4284726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42971" y="4267199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National ID / Passport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24261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81410" y="1268361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86202" y="1238249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Medical Information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4261" y="16573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00459" y="1772793"/>
            <a:ext cx="133346" cy="11201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10004" y="1752599"/>
            <a:ext cx="4857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Allergies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4261" y="20764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600459" y="2189226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10004" y="2171700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Chronic Conditions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24261" y="24955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600459" y="2613659"/>
            <a:ext cx="133346" cy="1066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10004" y="2590799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Medications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4261" y="29146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600459" y="3027425"/>
            <a:ext cx="133346" cy="1173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810004" y="3009900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Blood Type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4261" y="33337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600459" y="3451859"/>
            <a:ext cx="133346" cy="1066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810004" y="3429000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/ Height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1195" y="3429000"/>
            <a:ext cx="4286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4261" y="3914775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Note:</a:t>
            </a: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 Record all known allergies for patient safety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00819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57968" y="1268361"/>
            <a:ext cx="171445" cy="14932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562760" y="123824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Information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00819" y="16573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277018" y="1775460"/>
            <a:ext cx="133346" cy="1066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486562" y="1752599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Medical Aid Scheme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00819" y="2076449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277018" y="2197227"/>
            <a:ext cx="133346" cy="10134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86562" y="2171700"/>
            <a:ext cx="11429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Membership Number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0819" y="24955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277018" y="2616327"/>
            <a:ext cx="133346" cy="10134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486562" y="2590799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Principal Member Details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00819" y="2914650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277018" y="3027425"/>
            <a:ext cx="133346" cy="11734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86562" y="3009900"/>
            <a:ext cx="14953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Authorization Requirements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00819" y="3409950"/>
            <a:ext cx="3171745" cy="3809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73420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Patient Profile - Overview &amp; Medication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057548" cy="5095874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1524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Overview Tab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3638459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1911803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1876424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38375"/>
            <a:ext cx="3638459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2371725"/>
            <a:ext cx="152396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0119" y="2333624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Demographics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695575"/>
            <a:ext cx="3638459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2823482"/>
            <a:ext cx="152396" cy="1251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0119" y="2790824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Allergies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6082" y="2790824"/>
            <a:ext cx="771505" cy="190499"/>
          </a:xfrm>
          <a:prstGeom prst="roundRect">
            <a:avLst>
              <a:gd name="adj" fmla="val 40000"/>
            </a:avLst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6082" y="2790824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91B1B"/>
                </a:solidFill>
                <a:latin typeface="Inter"/>
                <a:rFonts ascii="Inter" hAnsi="Inter" eastAsia="Inter" cs="Inter"/>
              </a:rPr>
              <a:t>Highlighted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152775"/>
            <a:ext cx="3638459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1525" y="3276599"/>
            <a:ext cx="152396" cy="1333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00119" y="3248024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Chronic Conditions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609975"/>
            <a:ext cx="3638459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71525" y="3735160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00119" y="3705224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Prescriptions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7568" y="3686175"/>
            <a:ext cx="2000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327" y="4067174"/>
            <a:ext cx="3638459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71525" y="4190999"/>
            <a:ext cx="152396" cy="1333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00119" y="416242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Last Visit: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Jan 15, 2024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4777" y="1000125"/>
            <a:ext cx="6610184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105272" y="1286435"/>
            <a:ext cx="190495" cy="15127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71965" y="1228725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Medication History Tab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5272" y="1647825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19569" y="1804035"/>
            <a:ext cx="133346" cy="106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10064" y="1781174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9569" y="2028825"/>
            <a:ext cx="1771605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prescriptions filled for this patient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19769" y="1647825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334066" y="1804035"/>
            <a:ext cx="133346" cy="1066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24561" y="1781174"/>
            <a:ext cx="11429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Medications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066" y="20288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Active medications list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34266" y="1647825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F9FAFB"/>
              </a:gs>
              <a:gs pos="100000">
                <a:srgbClr val="F8FAFC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448563" y="1798701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39059" y="1781174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Past Medications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8563" y="20288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Discontinued medications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5272" y="3752849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219569" y="3901058"/>
            <a:ext cx="133346" cy="1226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10064" y="3886200"/>
            <a:ext cx="112392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Adherence Tracking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9569" y="4133849"/>
            <a:ext cx="1771605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Monitor if patient takes medications on time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19769" y="3752849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334066" y="3898391"/>
            <a:ext cx="133346" cy="12801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524561" y="3886200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Refill Patterns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4066" y="4133849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 refill frequency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34266" y="3752849"/>
            <a:ext cx="2000199" cy="1990724"/>
          </a:xfrm>
          <a:prstGeom prst="roundRect">
            <a:avLst>
              <a:gd name="adj" fmla="val 7655"/>
            </a:avLst>
          </a:prstGeom>
          <a:gradFill rotWithShape="1">
            <a:gsLst>
              <a:gs pos="0">
                <a:srgbClr val="FEF2F2"/>
              </a:gs>
              <a:gs pos="100000">
                <a:srgbClr val="FDF2F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448563" y="3906392"/>
            <a:ext cx="133346" cy="11201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639059" y="3886200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Drug Interactions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48563" y="4133849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Safety checks for interactions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05804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Patient Profile - Prescriptions, Insurance &amp;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306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95399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Prescriptions Tab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89701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070" y="181927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Active Prescriptions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2009774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Current valid prescriptions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359741"/>
            <a:ext cx="171445" cy="1382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81070" y="2276474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070" y="2466975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prescription record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805880"/>
            <a:ext cx="171445" cy="1603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1070" y="2733674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Refill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070" y="2924175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 refill availability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279672"/>
            <a:ext cx="171445" cy="1272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1070" y="3190874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Prescriber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1070" y="3381375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Doctor details &amp; contact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62360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38559" y="132207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57648" y="1295399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Tab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62360" y="1902541"/>
            <a:ext cx="171445" cy="1382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48103" y="181927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Medical Aid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8103" y="2009774"/>
            <a:ext cx="14858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Scheme &amp; membership info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235421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48103" y="2276474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Claim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8103" y="2466975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Past insurance claims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62360" y="2836299"/>
            <a:ext cx="171445" cy="995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48103" y="2733674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Annual Limits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8103" y="2924175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 benefit utilization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562360" y="3263080"/>
            <a:ext cx="171445" cy="1603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48103" y="319087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Authorization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8103" y="3381375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Pre-approval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38919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15117" y="1336357"/>
            <a:ext cx="228594" cy="165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734206" y="1295399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Notes Tab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38919" y="1912220"/>
            <a:ext cx="171445" cy="1189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24661" y="181927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Private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4661" y="2009774"/>
            <a:ext cx="12477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Internal documentation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38919" y="2354211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24661" y="227647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Interaction 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4661" y="2466975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Patient communications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38919" y="2812793"/>
            <a:ext cx="171445" cy="14656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524661" y="273367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Reminders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4661" y="292417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Follow-up scheduling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38919" y="3476624"/>
            <a:ext cx="3095547" cy="552450"/>
          </a:xfrm>
          <a:prstGeom prst="roundRect">
            <a:avLst>
              <a:gd name="adj" fmla="val 2758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2740" y="3600450"/>
            <a:ext cx="2847903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Tip: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Use notes for important patient-specific information and care coordination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05652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278" y="114300"/>
            <a:ext cx="87627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Patient Communications &amp; Adherence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53416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53416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1000125"/>
            <a:ext cx="526719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306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15" y="12953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Sending Reminders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69" y="1819275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patient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2181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21812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2162174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"Send Message"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7" y="2562224"/>
            <a:ext cx="48481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MESSAGE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790824"/>
            <a:ext cx="238119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93217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19169" y="2943225"/>
            <a:ext cx="101914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2716" y="2790824"/>
            <a:ext cx="238119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47963" y="2926841"/>
            <a:ext cx="133346" cy="1280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86082" y="2943225"/>
            <a:ext cx="80007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Refill reminder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286125"/>
            <a:ext cx="238119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427475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9169" y="3438525"/>
            <a:ext cx="71435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Appointment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2716" y="3286125"/>
            <a:ext cx="238119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47963" y="3427475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86082" y="3438525"/>
            <a:ext cx="666733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General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27" y="3857625"/>
            <a:ext cx="48481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CHANNELS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086225"/>
            <a:ext cx="1562060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600159" y="4220935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1050" y="4457700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33586" y="4086225"/>
            <a:ext cx="1562060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238419" y="4220935"/>
            <a:ext cx="152396" cy="1306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19309" y="4457700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71845" y="4086225"/>
            <a:ext cx="1562060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76678" y="4229100"/>
            <a:ext cx="152396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257568" y="4457700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14897" y="1000125"/>
            <a:ext cx="526719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3633000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43491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19689" y="132207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38779" y="12953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Adherence Tracking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43491" y="1819275"/>
            <a:ext cx="4848103" cy="476249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1998889"/>
            <a:ext cx="152396" cy="11702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05432" y="1962149"/>
            <a:ext cx="3400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tracks if patients are </a:t>
            </a:r>
            <a:r>
              <a:rPr sz="83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picking up refills on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43491" y="2447924"/>
            <a:ext cx="4848103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57788" y="2642726"/>
            <a:ext cx="171445" cy="1437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05432" y="2562224"/>
            <a:ext cx="20859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Identifies Patients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5432" y="2752725"/>
            <a:ext cx="20859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Flag those needing adherence support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43491" y="3133724"/>
            <a:ext cx="4848103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57788" y="3331291"/>
            <a:ext cx="171445" cy="13826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05432" y="3248024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Generate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05432" y="3438525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clinical interventions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43491" y="3857625"/>
            <a:ext cx="4848103" cy="590549"/>
          </a:xfrm>
          <a:prstGeom prst="roundRect">
            <a:avLst>
              <a:gd name="adj" fmla="val 25806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76838" y="4049485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05432" y="3981449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Proactive Patient Care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5432" y="4171950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Early intervention improves health outcomes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2671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Sales &amp; Prescription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9.1 - 9.2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800479" cy="5095874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27635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Sales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43075"/>
            <a:ext cx="2152596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899285"/>
            <a:ext cx="133346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1876424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24" y="2085975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Daily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121" y="1743075"/>
            <a:ext cx="2152596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38419" y="1893951"/>
            <a:ext cx="133346" cy="1173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28914" y="1876424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8419" y="2085975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466975"/>
            <a:ext cx="2152596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2636520"/>
            <a:ext cx="133346" cy="800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0119" y="2600325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Average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24" y="2809875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Per 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4121" y="2466975"/>
            <a:ext cx="2152596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FFBEB"/>
              </a:gs>
              <a:gs pos="100000">
                <a:srgbClr val="FEFCE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238419" y="2625852"/>
            <a:ext cx="133346" cy="10134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28914" y="2600325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8419" y="2809875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228975"/>
            <a:ext cx="4381390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3360800"/>
            <a:ext cx="133346" cy="1173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81070" y="334327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by Hour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3686175"/>
            <a:ext cx="4381390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90575" y="3820667"/>
            <a:ext cx="133346" cy="1120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1070" y="380047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Top-Selling Products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786" y="3800475"/>
            <a:ext cx="6572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category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57708" y="1000125"/>
            <a:ext cx="5867253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580748" y="2077085"/>
            <a:ext cx="2286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48203" y="1216741"/>
            <a:ext cx="171445" cy="13826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95847" y="1171575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vs OTC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48203" y="1495424"/>
            <a:ext cx="1790655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67333" y="1639660"/>
            <a:ext cx="152396" cy="925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924401" y="18573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Breakdown by Type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15057" y="1495424"/>
            <a:ext cx="1790655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534186" y="1620610"/>
            <a:ext cx="152396" cy="1306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791255" y="18573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Therapeutic Category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81910" y="1495424"/>
            <a:ext cx="1790655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AF5FF"/>
              </a:gs>
              <a:gs pos="100000">
                <a:srgbClr val="FDF2F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401039" y="1628775"/>
            <a:ext cx="152396" cy="1143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58108" y="18573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Prescriber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57708" y="3400425"/>
            <a:ext cx="5867253" cy="3228975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109261" y="4948872"/>
            <a:ext cx="3228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48203" y="3611511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095847" y="3571875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How to Run Report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48203" y="3895724"/>
            <a:ext cx="1047723" cy="704849"/>
          </a:xfrm>
          <a:prstGeom prst="roundRect">
            <a:avLst>
              <a:gd name="adj" fmla="val 21621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76818" y="3981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3491" y="4000500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3926" y="4210049"/>
            <a:ext cx="87627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Sales Reports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72125" y="3895724"/>
            <a:ext cx="1047723" cy="704849"/>
          </a:xfrm>
          <a:prstGeom prst="roundRect">
            <a:avLst>
              <a:gd name="adj" fmla="val 21621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91215" y="3981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7888" y="4000500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7848" y="4210049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Daily Summary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86522" y="3895724"/>
            <a:ext cx="1047723" cy="704849"/>
          </a:xfrm>
          <a:prstGeom prst="roundRect">
            <a:avLst>
              <a:gd name="adj" fmla="val 21621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15137" y="3981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72285" y="4000500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72245" y="4210049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10444" y="3895724"/>
            <a:ext cx="1047723" cy="704849"/>
          </a:xfrm>
          <a:prstGeom prst="roundRect">
            <a:avLst>
              <a:gd name="adj" fmla="val 21621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39059" y="3981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6207" y="4000500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6167" y="4210049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Generate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24841" y="3895724"/>
            <a:ext cx="1047723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753456" y="3981449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791555" y="4031239"/>
            <a:ext cx="114297" cy="909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410564" y="4210049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48203" y="4714875"/>
            <a:ext cx="5524361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943451" y="4846700"/>
            <a:ext cx="133346" cy="11734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152996" y="4829175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options: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PDF / Excel / Print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5436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Inventory &amp; Prescription Volume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9.3 - 9.4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24477" y="1791335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495424"/>
            <a:ext cx="1619209" cy="4191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1646301"/>
            <a:ext cx="133346" cy="117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1552574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all products with expiry 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2636" y="1495424"/>
            <a:ext cx="1619209" cy="4191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09784" y="1664970"/>
            <a:ext cx="133346" cy="800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81230" y="1628775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Filter by days to expiry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8043" y="1495424"/>
            <a:ext cx="1619209" cy="4191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05192" y="1646301"/>
            <a:ext cx="133346" cy="1173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76638" y="162877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Filter by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1990724"/>
            <a:ext cx="5010024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2091118"/>
            <a:ext cx="133346" cy="10401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5822" y="2066924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Export for action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2828925"/>
            <a:ext cx="535291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124477" y="3620135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3064899"/>
            <a:ext cx="171445" cy="995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300037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Slow-Moving Stock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3335464"/>
            <a:ext cx="133346" cy="16802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6773" y="3343275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Products with low turnover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3630168"/>
            <a:ext cx="133346" cy="11201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6773" y="3609975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Identify potential waste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7228" y="3902202"/>
            <a:ext cx="133346" cy="10134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66773" y="387667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Plan promotions or returns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4657725"/>
            <a:ext cx="5352916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18398" y="5306060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57228" y="4874341"/>
            <a:ext cx="171445" cy="1382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04872" y="4829175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Valuation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228" y="5153024"/>
            <a:ext cx="1619209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377" y="5210174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77" y="5362575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$125,430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52636" y="5153024"/>
            <a:ext cx="1619209" cy="4572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9784" y="5210174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Category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48043" y="5153024"/>
            <a:ext cx="1619209" cy="457200"/>
          </a:xfrm>
          <a:prstGeom prst="roundRect">
            <a:avLst>
              <a:gd name="adj" fmla="val 1666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05192" y="5210174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Location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62540" y="1230568"/>
            <a:ext cx="171445" cy="11061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10184" y="1171575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Volume Report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62540" y="14954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095947" y="1621971"/>
            <a:ext cx="152396" cy="14695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8263" y="1866899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57948" y="14954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791355" y="1630135"/>
            <a:ext cx="152396" cy="1306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43671" y="1866899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Week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53356" y="1495424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486762" y="1628775"/>
            <a:ext cx="152396" cy="13334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839079" y="1866899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Month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62540" y="218122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8739" y="2276474"/>
            <a:ext cx="157158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Compare to previous periods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1163020" y="2307336"/>
            <a:ext cx="133346" cy="90678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362540" y="260032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38739" y="2695575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Identify peak times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1163020" y="2713100"/>
            <a:ext cx="133346" cy="11734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362540" y="3759916"/>
            <a:ext cx="171445" cy="13826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610184" y="371475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Prescriber Analysis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62540" y="4038599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38739" y="4159377"/>
            <a:ext cx="133346" cy="10134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648283" y="4133849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Prescriptions by doctor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11163020" y="4156709"/>
            <a:ext cx="133346" cy="10668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6362540" y="445770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438739" y="4575810"/>
            <a:ext cx="133346" cy="1066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48283" y="4552949"/>
            <a:ext cx="16573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Average value per prescription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11163020" y="4578477"/>
            <a:ext cx="133346" cy="101346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6362540" y="487680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438739" y="4994909"/>
            <a:ext cx="133346" cy="10668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648283" y="49720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Most common medications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11163020" y="4992242"/>
            <a:ext cx="133346" cy="112014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8767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Financial &amp; Compliance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9.5 - 9.6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265595"/>
            <a:ext cx="171445" cy="1548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1238249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Profit &amp;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57350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1756410"/>
            <a:ext cx="133346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4872" y="173355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revenue by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0339" y="1657350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57488" y="1751076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47983" y="1733550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Cost of goods sold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03834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4377" y="2150745"/>
            <a:ext cx="133346" cy="800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04872" y="2114550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Gross profit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0339" y="203834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57488" y="2140077"/>
            <a:ext cx="133346" cy="1013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47983" y="2114550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Gross margin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241934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2513075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2495550"/>
            <a:ext cx="11429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Expenses (if tracked)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0339" y="241934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457488" y="2513075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47983" y="2495550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Net profit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7228" y="3695699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14377" y="3811536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9169" y="37719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Claims Report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228" y="4200525"/>
            <a:ext cx="2466913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99749" y="43580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525" y="43148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Claims Submitted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095547" y="4337684"/>
            <a:ext cx="133346" cy="10668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400339" y="4200525"/>
            <a:ext cx="2466913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3242860" y="43580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14637" y="4314825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Claims Paid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38659" y="4332350"/>
            <a:ext cx="133346" cy="1173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57228" y="4657725"/>
            <a:ext cx="2466913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99749" y="48152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525" y="4772025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Pending Claims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095547" y="4789550"/>
            <a:ext cx="133346" cy="11734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3400339" y="4657725"/>
            <a:ext cx="2466913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AF5FF"/>
              </a:gs>
              <a:gs pos="100000">
                <a:srgbClr val="FDF2F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3242860" y="48152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14637" y="4772025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Aging Receivables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38659" y="4789550"/>
            <a:ext cx="133346" cy="11734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62540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1262830"/>
            <a:ext cx="171445" cy="16038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4481" y="1238249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MCAZ Reporting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62540" y="1657350"/>
            <a:ext cx="5010024" cy="342900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6224110" y="1795780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57788" y="1770126"/>
            <a:ext cx="133346" cy="1173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48283" y="1752599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substance summary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48683" y="1733550"/>
            <a:ext cx="647683" cy="190499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48683" y="1733550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62540" y="2076449"/>
            <a:ext cx="5010024" cy="342900"/>
          </a:xfrm>
          <a:prstGeom prst="roundRect">
            <a:avLst>
              <a:gd name="adj" fmla="val 4444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6224110" y="2214879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57788" y="2194560"/>
            <a:ext cx="133346" cy="1066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48283" y="2171700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Adverse event reporting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696307" y="2152650"/>
            <a:ext cx="600059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6307" y="215265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62540" y="2495550"/>
            <a:ext cx="501002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6224110" y="2633980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57788" y="2605659"/>
            <a:ext cx="133346" cy="12268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648283" y="2590799"/>
            <a:ext cx="16096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Regulatory submission format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1163020" y="2608325"/>
            <a:ext cx="133346" cy="117348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 Same Side Corner Rectangle 74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362540" y="3695699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19689" y="3811536"/>
            <a:ext cx="171445" cy="14932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724481" y="3771900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ZIMRA Tax Report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62540" y="4200525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7095947" y="4343400"/>
            <a:ext cx="152396" cy="1143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448263" y="4572000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VAT Summary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57948" y="4200525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8791355" y="4335235"/>
            <a:ext cx="152396" cy="13062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143671" y="4572000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by Tax Rate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753356" y="4200525"/>
            <a:ext cx="1619209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10486762" y="4342039"/>
            <a:ext cx="152396" cy="117021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839079" y="4572000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for Filing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62540" y="4924424"/>
            <a:ext cx="5010024" cy="342900"/>
          </a:xfrm>
          <a:prstGeom prst="roundRect">
            <a:avLst>
              <a:gd name="adj" fmla="val 44444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 Same Side Corner Rectangle 88"/>
          <p:cNvSpPr/>
          <p:nvPr/>
        </p:nvSpPr>
        <p:spPr>
          <a:xfrm rot="16200000">
            <a:off x="6224110" y="50628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57788" y="5037201"/>
            <a:ext cx="133346" cy="11734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648283" y="5019675"/>
            <a:ext cx="27050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Generate reports ready for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ZIMRA tax submission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