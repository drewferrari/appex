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70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05966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1609684" cy="419100"/>
          </a:xfrm>
          <a:prstGeom prst="roundRect">
            <a:avLst>
              <a:gd name="adj" fmla="val 454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160968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5-6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Prescription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Inventory Management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39432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Guide to Prescription &amp; Inventory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31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324100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71750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Adding &amp; Dispensing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80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3028950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76599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Register &amp;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Stock &amp; Expiry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914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86300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Temperature 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0"/>
            <a:ext cx="9353316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Prescription Management - Accessing &amp;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29594" y="323849"/>
            <a:ext cx="1295367" cy="495299"/>
          </a:xfrm>
          <a:prstGeom prst="roundRect">
            <a:avLst>
              <a:gd name="adj" fmla="val 3845769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9594" y="323849"/>
            <a:ext cx="1295367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5.1 - 5.2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390650"/>
            <a:ext cx="3190795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18398" y="2038985"/>
            <a:ext cx="1428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581149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72116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6859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907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99" y="2228850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2171700"/>
            <a:ext cx="239071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"Prescriptions"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971800"/>
            <a:ext cx="3190795" cy="4010024"/>
          </a:xfrm>
          <a:prstGeom prst="roundRect">
            <a:avLst>
              <a:gd name="adj" fmla="val 7164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272239" y="4910772"/>
            <a:ext cx="4010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2144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2020" y="31622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" y="3543300"/>
            <a:ext cx="2771705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Monitor all prescription activities and workflow status from a single dashboard view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86122" y="144836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52816" y="139065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86122" y="1771650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238519" y="2011679"/>
            <a:ext cx="228594" cy="20573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76738" y="2038349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Action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8519" y="2343150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8519" y="27622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Pending Prescriptions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0659" y="1771650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53056" y="2017394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15137" y="2038349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056" y="2343150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056" y="27622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Ready for Pickup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4721" y="1771650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277118" y="2017394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15377" y="2038349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Awaiting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7118" y="2343150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7118" y="27622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Insurance Approval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86122" y="3219449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238519" y="346519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10124" y="3486150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38519" y="3790949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8519" y="42100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Prescriptions Filled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0659" y="3219449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53056" y="3453765"/>
            <a:ext cx="228594" cy="21717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53216" y="3486150"/>
            <a:ext cx="4952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Requests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3056" y="3790949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3056" y="42100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Refill Requests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24721" y="3219449"/>
            <a:ext cx="2400239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277118" y="3499484"/>
            <a:ext cx="228594" cy="12572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525" y="3486150"/>
            <a:ext cx="4000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Weekly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7118" y="3790949"/>
            <a:ext cx="209544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7118" y="4210049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This Week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86122" y="4667249"/>
            <a:ext cx="7438839" cy="495299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3904513" y="4848858"/>
            <a:ext cx="495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238519" y="4865124"/>
            <a:ext cx="171445" cy="9955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486162" y="4819650"/>
            <a:ext cx="2800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Real-time prescription workflow monitoring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0387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Adding a New Prescription - Steps 1-3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6298" y="1266824"/>
            <a:ext cx="952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1190625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13" y="1457325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Identify the patient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1800225"/>
            <a:ext cx="3076498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970314"/>
            <a:ext cx="152396" cy="1170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8219" y="1933574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Existing 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19" y="2200275"/>
            <a:ext cx="26193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by name, phone, or patient 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8319" y="2581275"/>
            <a:ext cx="390515" cy="228600"/>
          </a:xfrm>
          <a:prstGeom prst="roundRect">
            <a:avLst>
              <a:gd name="adj" fmla="val 8332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8319" y="2581275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924175"/>
            <a:ext cx="3076498" cy="66675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095625"/>
            <a:ext cx="152396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8219" y="305752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New Patient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19" y="3324225"/>
            <a:ext cx="26193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Create new patient record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705224"/>
            <a:ext cx="3076498" cy="10858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3876293"/>
            <a:ext cx="133346" cy="960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28694" y="3848099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Details: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47743" y="4138179"/>
            <a:ext cx="114297" cy="675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19189" y="4095749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 &amp; contact information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47743" y="4347729"/>
            <a:ext cx="114297" cy="675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19189" y="4305300"/>
            <a:ext cx="12382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Date of birth &amp; address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47743" y="4557279"/>
            <a:ext cx="114297" cy="675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19189" y="451485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Allergies &amp; medical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816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187091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81410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3806" y="1266824"/>
            <a:ext cx="1428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2896" y="1190625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Prescriber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2896" y="1457325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Doctor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81410" y="18002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4423931" y="19577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95707" y="1940052"/>
            <a:ext cx="133346" cy="10134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905252" y="1895474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Prescriber Name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1410" y="22574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4423931" y="24149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95707" y="2389251"/>
            <a:ext cx="133346" cy="1173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905252" y="2352675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License Number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81410" y="27146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4423931" y="28721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95707" y="2851784"/>
            <a:ext cx="133346" cy="1066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05252" y="28098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Practice/Institution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1410" y="31718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4423931" y="33293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95707" y="3308984"/>
            <a:ext cx="133346" cy="1066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05252" y="3267075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Number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81410" y="3629025"/>
            <a:ext cx="3076498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95707" y="3796392"/>
            <a:ext cx="152396" cy="1224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924301" y="3762374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Upload Prescription Image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4301" y="4029075"/>
            <a:ext cx="26193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Photo of physical prescription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29374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554747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57968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9889" y="1266824"/>
            <a:ext cx="1523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9454" y="1190625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Details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9454" y="1457325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Rx information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57968" y="18002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 Same Side Corner Rectangle 65"/>
          <p:cNvSpPr/>
          <p:nvPr/>
        </p:nvSpPr>
        <p:spPr>
          <a:xfrm rot="16200000">
            <a:off x="8100489" y="19577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372265" y="1940052"/>
            <a:ext cx="133346" cy="10134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581810" y="1895474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Number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57968" y="22574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8100489" y="24149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72265" y="2389251"/>
            <a:ext cx="133346" cy="11734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81810" y="235267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Issued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57968" y="27146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 Same Side Corner Rectangle 73"/>
          <p:cNvSpPr/>
          <p:nvPr/>
        </p:nvSpPr>
        <p:spPr>
          <a:xfrm rot="16200000">
            <a:off x="8100489" y="28721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72265" y="2846450"/>
            <a:ext cx="133346" cy="11734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581810" y="2809875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Expires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57968" y="31718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 Same Side Corner Rectangle 77"/>
          <p:cNvSpPr/>
          <p:nvPr/>
        </p:nvSpPr>
        <p:spPr>
          <a:xfrm rot="16200000">
            <a:off x="8100489" y="33293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72265" y="3298316"/>
            <a:ext cx="133346" cy="12801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581810" y="326707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Refills Authorized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57968" y="3629025"/>
            <a:ext cx="3076498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72265" y="3795032"/>
            <a:ext cx="152396" cy="12518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600859" y="3762374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Substance?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00859" y="4029075"/>
            <a:ext cx="476238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00859" y="4029075"/>
            <a:ext cx="4762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YES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153296" y="4029075"/>
            <a:ext cx="419089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53296" y="4029075"/>
            <a:ext cx="41908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1340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Adding a New Prescription - Steps 4-6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23" y="1266824"/>
            <a:ext cx="1523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1190625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Medications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13" y="1457325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Add prescribed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1800225"/>
            <a:ext cx="3076498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14B8A6"/>
              </a:gs>
              <a:gs pos="100000">
                <a:srgbClr val="22C55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27" y="1800225"/>
            <a:ext cx="307649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Click "Add Medication"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571585" y="1944460"/>
            <a:ext cx="152396" cy="1306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95327" y="2295525"/>
            <a:ext cx="3076498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37848" y="245300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434018"/>
            <a:ext cx="133346" cy="1040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9169" y="2390774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for medication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752725"/>
            <a:ext cx="3076498" cy="552450"/>
          </a:xfrm>
          <a:prstGeom prst="roundRect">
            <a:avLst>
              <a:gd name="adj" fmla="val 2758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652122" y="2995930"/>
            <a:ext cx="5524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896552"/>
            <a:ext cx="133346" cy="933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169" y="2847974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Dosage instructions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18" y="3057525"/>
            <a:ext cx="2600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e.g., "Take 1 tablet twice daily"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381375"/>
            <a:ext cx="1495387" cy="342900"/>
          </a:xfrm>
          <a:prstGeom prst="roundRect">
            <a:avLst>
              <a:gd name="adj" fmla="val 4444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756897" y="351980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494150"/>
            <a:ext cx="133346" cy="1173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81070" y="3476624"/>
            <a:ext cx="10477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Quantity dispensed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6913" y="3381375"/>
            <a:ext cx="1495387" cy="342900"/>
          </a:xfrm>
          <a:prstGeom prst="roundRect">
            <a:avLst>
              <a:gd name="adj" fmla="val 44444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328483" y="351980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562160" y="3494150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52656" y="3476624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Days supply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3800475"/>
            <a:ext cx="3076498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756897" y="393890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3931920"/>
            <a:ext cx="133346" cy="8001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00119" y="3876674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instructions (optional)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" y="4219575"/>
            <a:ext cx="3076498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00099" y="4360925"/>
            <a:ext cx="133346" cy="1173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09644" y="4343400"/>
            <a:ext cx="14858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Repeat for each medication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52816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187091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81410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3806" y="1266824"/>
            <a:ext cx="1428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2896" y="1190625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Verification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2896" y="145732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Pharmacist approval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81410" y="1800225"/>
            <a:ext cx="3076498" cy="971550"/>
          </a:xfrm>
          <a:prstGeom prst="roundRect">
            <a:avLst>
              <a:gd name="adj" fmla="val 15686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95707" y="1968953"/>
            <a:ext cx="152396" cy="1197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24301" y="1933574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Reviews: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962400" y="2255900"/>
            <a:ext cx="133346" cy="1173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152896" y="2238375"/>
            <a:ext cx="16954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for errors or interactions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962400" y="2503550"/>
            <a:ext cx="133346" cy="11734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52896" y="2486025"/>
            <a:ext cx="15430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Verify against patient history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81410" y="2867025"/>
            <a:ext cx="3076498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14757" y="3000375"/>
            <a:ext cx="2809804" cy="380999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14757" y="3457575"/>
            <a:ext cx="2809804" cy="380999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962400" y="3582760"/>
            <a:ext cx="152396" cy="1306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152896" y="3552825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pharmacist </a:t>
            </a:r>
            <a:r>
              <a:rPr sz="83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license number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81410" y="4067174"/>
            <a:ext cx="3076498" cy="533399"/>
          </a:xfrm>
          <a:prstGeom prst="roundRect">
            <a:avLst>
              <a:gd name="adj" fmla="val 2857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695707" y="4249510"/>
            <a:ext cx="152396" cy="1306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924301" y="4181474"/>
            <a:ext cx="261930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Required: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Pharmacist verification for all prescriptions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29374" y="1000125"/>
            <a:ext cx="3495587" cy="5095874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554747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57968" y="11906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9889" y="1266824"/>
            <a:ext cx="1523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9454" y="1190625"/>
            <a:ext cx="9715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9454" y="145732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entry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57968" y="2552700"/>
            <a:ext cx="3076498" cy="1181099"/>
          </a:xfrm>
          <a:prstGeom prst="roundRect">
            <a:avLst>
              <a:gd name="adj" fmla="val 19354"/>
            </a:avLst>
          </a:prstGeom>
          <a:gradFill rotWithShape="1">
            <a:gsLst>
              <a:gs pos="0">
                <a:srgbClr val="22C55E"/>
              </a:gs>
              <a:gs pos="100000">
                <a:srgbClr val="14B8A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629534" y="2838778"/>
            <a:ext cx="342891" cy="26604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486562" y="3238500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Save Prescription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57968" y="3886200"/>
            <a:ext cx="3076498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096147" y="4057650"/>
            <a:ext cx="1409664" cy="342900"/>
          </a:xfrm>
          <a:prstGeom prst="roundRect">
            <a:avLst>
              <a:gd name="adj" fmla="val 555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96147" y="4057650"/>
            <a:ext cx="140966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Status Update 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248543" y="4163785"/>
            <a:ext cx="152396" cy="130628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429414" y="4514850"/>
            <a:ext cx="2733606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43711" y="4629150"/>
            <a:ext cx="25050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Ready to Dispense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7623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Dispensing a Prescription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7157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24" y="1228725"/>
            <a:ext cx="857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16" y="1152524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Prescription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16" y="141922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Locate the prescription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749552"/>
            <a:ext cx="133346" cy="1013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6773" y="1685925"/>
            <a:ext cx="19525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Ready to Dispense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1971675"/>
            <a:ext cx="5010024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80698" y="214820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122714"/>
            <a:ext cx="152396" cy="1170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2085975"/>
            <a:ext cx="24097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Rx number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patient 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35814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-481664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7228" y="37528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575" y="3809999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2516" y="3733799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Dispense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2516" y="4000500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Process the prescription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4301490"/>
            <a:ext cx="133346" cy="1600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6773" y="4267199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"Dispense"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4613909"/>
            <a:ext cx="133346" cy="1066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6773" y="4552949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medications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4907661"/>
            <a:ext cx="133346" cy="9067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6773" y="4838699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substitute if needed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7228" y="5124449"/>
            <a:ext cx="5010024" cy="3048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737848" y="5243829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476" y="5200650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Note: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Requires prescriber approval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045" y="1000125"/>
            <a:ext cx="5352916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499898" y="1672272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62540" y="11525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5887" y="1209674"/>
            <a:ext cx="1238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7828" y="1209674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Label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2540" y="1609724"/>
            <a:ext cx="50100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Auto-generated labels include: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2540" y="1838324"/>
            <a:ext cx="857228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2540" y="1838324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Patient name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76918" y="1838324"/>
            <a:ext cx="752456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6918" y="1838324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6522" y="1838324"/>
            <a:ext cx="561960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6522" y="1838324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Dosage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05632" y="1838324"/>
            <a:ext cx="790555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632" y="1838324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Instructions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3336" y="1838324"/>
            <a:ext cx="1076298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3336" y="1838324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Pharmacy details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86782" y="1838324"/>
            <a:ext cx="400039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86782" y="1838324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62540" y="2085975"/>
            <a:ext cx="1133446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2540" y="2085975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initials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045" y="2628900"/>
            <a:ext cx="5352916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5499898" y="3301047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62540" y="27813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6362" y="2838450"/>
            <a:ext cx="1333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7828" y="2838450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Dispensing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62540" y="3275075"/>
            <a:ext cx="133346" cy="11734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572085" y="3238500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Status →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Ready for Pickup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62540" y="3503675"/>
            <a:ext cx="133346" cy="1173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572085" y="3467100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automatically deducted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3732275"/>
            <a:ext cx="133346" cy="1173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572085" y="3695699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drug register updated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045" y="4257675"/>
            <a:ext cx="5352916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5499898" y="4929822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362540" y="44100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5887" y="4467224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7828" y="4467224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Pickup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62540" y="4867274"/>
            <a:ext cx="1590635" cy="619124"/>
          </a:xfrm>
          <a:prstGeom prst="roundRect">
            <a:avLst>
              <a:gd name="adj" fmla="val 2461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076898" y="5022901"/>
            <a:ext cx="171445" cy="10784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438739" y="525780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 as Picked Up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67473" y="4867274"/>
            <a:ext cx="1590635" cy="619124"/>
          </a:xfrm>
          <a:prstGeom prst="roundRect">
            <a:avLst>
              <a:gd name="adj" fmla="val 2461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81830" y="5007691"/>
            <a:ext cx="171445" cy="13826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143671" y="525780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Digital Signature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1930" y="4867274"/>
            <a:ext cx="1590635" cy="619124"/>
          </a:xfrm>
          <a:prstGeom prst="roundRect">
            <a:avLst>
              <a:gd name="adj" fmla="val 2461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486762" y="5007691"/>
            <a:ext cx="171445" cy="13826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858128" y="525780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 Instructions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51463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Prescription Refills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10639"/>
            <a:ext cx="228594" cy="217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95399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Refill Request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99" y="1876424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38324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Patient Requests Refill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18" y="2066924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 person, phone, or mobile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717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575" y="24098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371725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Original Prescription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2600325"/>
            <a:ext cx="20668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Locate in prescription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9051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050" y="29432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18" y="2905124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"Process Refill"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2861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050" y="33242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6318" y="3286125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Verify Refills Remaining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6318" y="3514725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authorization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3819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62000" y="3908869"/>
            <a:ext cx="133346" cy="88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76318" y="3819524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If Approved, Dispense as New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327" y="4400550"/>
            <a:ext cx="4914777" cy="476249"/>
          </a:xfrm>
          <a:prstGeom prst="roundRect">
            <a:avLst>
              <a:gd name="adj" fmla="val 3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4582885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38219" y="4514850"/>
            <a:ext cx="35527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Important: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Refills require valid prescription authorization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689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1323498"/>
            <a:ext cx="228594" cy="19145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14977" y="12953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Refill Reminders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689" y="1819275"/>
            <a:ext cx="4914777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72085" y="2023782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38779" y="1990724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SMS Reminders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085" y="231457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automatically sends SMS when refills are due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689" y="2771775"/>
            <a:ext cx="4914777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72085" y="297628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38779" y="2943225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 Requests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085" y="326707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Patients can request refills via WhatsApp messaging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3724274"/>
            <a:ext cx="4914777" cy="12573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72085" y="3934385"/>
            <a:ext cx="190495" cy="15127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838779" y="3895724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History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2085" y="421957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refill pattern tracking for each patient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72085" y="4524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57808" y="4632769"/>
            <a:ext cx="133346" cy="88011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914977" y="4524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00699" y="4632769"/>
            <a:ext cx="133346" cy="88011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7257868" y="4524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43591" y="4632769"/>
            <a:ext cx="133346" cy="88011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7600759" y="4524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15057" y="46005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43651" y="4524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57948" y="4600575"/>
            <a:ext cx="666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8643" y="4600575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3 of 5 refills used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8141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Controlled Drug Register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53941"/>
            <a:ext cx="228594" cy="197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019174"/>
            <a:ext cx="25812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Register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67033" y="1038224"/>
            <a:ext cx="1876378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7033" y="1038224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Every controlled substance sale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158268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05" y="1828800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&amp;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8794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86002" y="1593747"/>
            <a:ext cx="171445" cy="1272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33566" y="1828800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Patient Name &amp;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0855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48063" y="158268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95627" y="1828800"/>
            <a:ext cx="127631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Prescriber Name &amp; License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52916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10124" y="1588216"/>
            <a:ext cx="171445" cy="1382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57688" y="1828800"/>
            <a:ext cx="127631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Medication Name &amp; Strength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4977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72185" y="1582686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19749" y="1828800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Quantity Dispensed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7038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34246" y="1582686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81810" y="1828800"/>
            <a:ext cx="127631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Name &amp; License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9099" y="1419225"/>
            <a:ext cx="1485862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696307" y="1582686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3871" y="1828800"/>
            <a:ext cx="12763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Number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2390774"/>
            <a:ext cx="5352916" cy="361949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-1076976" y="4134483"/>
            <a:ext cx="3619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57228" y="2612091"/>
            <a:ext cx="190495" cy="12886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3921" y="2543175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Viewing the Register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7228" y="2943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228" y="29432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2020" y="2924175"/>
            <a:ext cx="3400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Prescriptions → Controlled Drug Register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7228" y="3267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228" y="3267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2020" y="3248024"/>
            <a:ext cx="22668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range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and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7228" y="35909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14377" y="3667557"/>
            <a:ext cx="114297" cy="753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62020" y="3571875"/>
            <a:ext cx="21621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PDF/Excel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inspection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228" y="3933824"/>
            <a:ext cx="5010024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1050" y="4057650"/>
            <a:ext cx="47623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Preview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81050" y="4099559"/>
            <a:ext cx="133346" cy="10668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81050" y="4324349"/>
            <a:ext cx="116202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7723" y="4391025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81170" y="4324349"/>
            <a:ext cx="116202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7843" y="4391025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Patient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1290" y="4324349"/>
            <a:ext cx="116202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47963" y="4391025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Drug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81410" y="4324349"/>
            <a:ext cx="1162020" cy="2857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8083" y="4391025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Qty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045" y="2390774"/>
            <a:ext cx="5352916" cy="361949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 rot="16200000">
            <a:off x="4428336" y="4134483"/>
            <a:ext cx="3619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362540" y="2600885"/>
            <a:ext cx="190495" cy="15127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29234" y="2543175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Monthly Reconciliation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2540" y="2924175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6205061" y="308165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7788" y="3038475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Opening Balance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1143971" y="3057525"/>
            <a:ext cx="152396" cy="11430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362540" y="3362324"/>
            <a:ext cx="2476438" cy="3048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 Same Side Corner Rectangle 65"/>
          <p:cNvSpPr/>
          <p:nvPr/>
        </p:nvSpPr>
        <p:spPr>
          <a:xfrm rot="16200000">
            <a:off x="6243160" y="34817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57788" y="3438525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+ Received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96127" y="3362324"/>
            <a:ext cx="2476438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8776747" y="34817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91375" y="3438525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- Dispensed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62540" y="3724274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 Same Side Corner Rectangle 71"/>
          <p:cNvSpPr/>
          <p:nvPr/>
        </p:nvSpPr>
        <p:spPr>
          <a:xfrm rot="16200000">
            <a:off x="6205061" y="3881753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7788" y="3838574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= Closing Balance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1143971" y="3849460"/>
            <a:ext cx="152396" cy="130628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6362540" y="4219575"/>
            <a:ext cx="5010024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 rot="16200000">
            <a:off x="6205061" y="437705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6476838" y="4354068"/>
            <a:ext cx="133346" cy="11201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667333" y="4333875"/>
            <a:ext cx="16763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Any discrepancies highlighted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62540" y="4676775"/>
            <a:ext cx="5010024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 Same Side Corner Rectangle 79"/>
          <p:cNvSpPr/>
          <p:nvPr/>
        </p:nvSpPr>
        <p:spPr>
          <a:xfrm rot="16200000">
            <a:off x="6205061" y="4834254"/>
            <a:ext cx="3809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6476838" y="4813934"/>
            <a:ext cx="133346" cy="10668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667333" y="4791075"/>
            <a:ext cx="19525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digital sign-off required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1151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Inventory Management - Accessing &amp;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6.1 - 6.2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200319" cy="509587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20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953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99" y="1876424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57425"/>
            <a:ext cx="2781230" cy="1390650"/>
          </a:xfrm>
          <a:prstGeom prst="roundRect">
            <a:avLst>
              <a:gd name="adj" fmla="val 10958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 w="825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7248" y="2419349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Dashboard provides: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48" y="2686050"/>
            <a:ext cx="24573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Real-time stock overview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2735035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7248" y="2971800"/>
            <a:ext cx="24573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 monitoring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3020785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48" y="3257550"/>
            <a:ext cx="24573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Movement tracking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3306535"/>
            <a:ext cx="152396" cy="13062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57548" y="1057835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24241" y="1000125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7548" y="1381124"/>
            <a:ext cx="2409764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209944" y="1626870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09944" y="1952624"/>
            <a:ext cx="21049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2,450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9944" y="2333624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Products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1610" y="1381124"/>
            <a:ext cx="2409764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34006" y="1635442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34006" y="1952624"/>
            <a:ext cx="21049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$125,430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006" y="2333624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Value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5197" y="1381124"/>
            <a:ext cx="2409764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267593" y="1631156"/>
            <a:ext cx="228594" cy="18573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67593" y="1952624"/>
            <a:ext cx="21049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7593" y="2333624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 Items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57548" y="2790824"/>
            <a:ext cx="7467413" cy="1371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209944" y="3001911"/>
            <a:ext cx="171445" cy="14932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4209944" y="3324225"/>
            <a:ext cx="2333566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4241" y="3438525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4241" y="3743325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Within 30 Days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19709" y="3324225"/>
            <a:ext cx="2333566" cy="6858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4006" y="3438525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4006" y="3743325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Within 14 Days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38999" y="3324225"/>
            <a:ext cx="2333566" cy="6858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3296" y="3438525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3296" y="3743325"/>
            <a:ext cx="21049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Within 7 Days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57548" y="4276725"/>
            <a:ext cx="3676558" cy="571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3837838" y="44964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209944" y="448123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476638" y="4391025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 Items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6638" y="4581524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Requiring temp monitoring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4541" y="4410074"/>
            <a:ext cx="2952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48403" y="4276725"/>
            <a:ext cx="3676558" cy="571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7628693" y="449643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00799" y="4486835"/>
            <a:ext cx="190495" cy="1512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267493" y="43910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Movement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7493" y="458152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Recent activity summary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15397" y="4410074"/>
            <a:ext cx="2952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Adding Products - Medications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962024"/>
            <a:ext cx="535291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24477" y="1753234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284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1076325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4192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Brand Name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474470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00339" y="14192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Generic Name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00339" y="1474470"/>
            <a:ext cx="133346" cy="80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129" y="16859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SKU / Barcode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741170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0339" y="16859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Therapeutic Class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400339" y="1741170"/>
            <a:ext cx="133346" cy="800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9129" y="1952624"/>
            <a:ext cx="50862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Manufacturer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007870"/>
            <a:ext cx="133346" cy="8001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19129" y="2219324"/>
            <a:ext cx="819129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129" y="2219324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5407" y="2219324"/>
            <a:ext cx="390515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5407" y="2219324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OTC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52596" y="2219324"/>
            <a:ext cx="723881" cy="19049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2596" y="2219324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2790824"/>
            <a:ext cx="5352916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5414" y="3462971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968438"/>
            <a:ext cx="190495" cy="1400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85822" y="2905124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29" y="3248024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Cost Price (USD/ZWL)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3303270"/>
            <a:ext cx="133346" cy="8001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00339" y="3248024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Selling Price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00339" y="3303270"/>
            <a:ext cx="133346" cy="8001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9129" y="35147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Insurance Reimbursement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3569970"/>
            <a:ext cx="133346" cy="8001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400339" y="351472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Private Price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00339" y="3569970"/>
            <a:ext cx="133346" cy="8001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19129" y="3781424"/>
            <a:ext cx="5086222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129" y="3781424"/>
            <a:ext cx="50862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Tax: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14.5% or Tax-Exempt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4381499"/>
            <a:ext cx="5352916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-5414" y="5053646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4553510"/>
            <a:ext cx="190495" cy="1512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5822" y="4495799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Dispensing Info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9129" y="4838699"/>
            <a:ext cx="2505012" cy="419100"/>
          </a:xfrm>
          <a:prstGeom prst="roundRect">
            <a:avLst>
              <a:gd name="adj" fmla="val 1818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278" y="4895849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Dosage 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278" y="5048250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Tablet, Capsule, Syrup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00339" y="4838699"/>
            <a:ext cx="2505012" cy="419100"/>
          </a:xfrm>
          <a:prstGeom prst="roundRect">
            <a:avLst>
              <a:gd name="adj" fmla="val 1818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7488" y="4895849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Strength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7488" y="5048250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500mg, 10mg/ml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9129" y="5334000"/>
            <a:ext cx="2505012" cy="266699"/>
          </a:xfrm>
          <a:prstGeom prst="roundRect">
            <a:avLst>
              <a:gd name="adj" fmla="val 2857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6278" y="5391150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Pack Size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00339" y="5334000"/>
            <a:ext cx="2505012" cy="266699"/>
          </a:xfrm>
          <a:prstGeom prst="roundRect">
            <a:avLst>
              <a:gd name="adj" fmla="val 2857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57488" y="5391150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Units of Measure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045" y="962024"/>
            <a:ext cx="5352916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095085" y="2038984"/>
            <a:ext cx="2286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24441" y="1120027"/>
            <a:ext cx="190495" cy="17929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591135" y="1076325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Regulatory Information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4441" y="1419225"/>
            <a:ext cx="2505012" cy="5333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6090762" y="16529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689" y="1495424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Required?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19689" y="1685925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689" y="1685925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Yes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10204" y="1685925"/>
            <a:ext cx="304792" cy="190499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10204" y="1685925"/>
            <a:ext cx="3047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05652" y="1419225"/>
            <a:ext cx="2505012" cy="5333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 rot="16200000">
            <a:off x="8671973" y="16529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0899" y="1495424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Schedule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0899" y="1685925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Schedule 1-6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4441" y="2028825"/>
            <a:ext cx="2505012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 Same Side Corner Rectangle 71"/>
          <p:cNvSpPr/>
          <p:nvPr/>
        </p:nvSpPr>
        <p:spPr>
          <a:xfrm rot="16200000">
            <a:off x="6090762" y="22625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19689" y="2105024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MCAZ Registration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19689" y="2295525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Registration Number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05652" y="2028825"/>
            <a:ext cx="2505012" cy="533399"/>
          </a:xfrm>
          <a:prstGeom prst="roundRect">
            <a:avLst>
              <a:gd name="adj" fmla="val 28571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 rot="16200000">
            <a:off x="8671973" y="22625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00899" y="2105024"/>
            <a:ext cx="23335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Cold Chain Required?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00899" y="2295525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00899" y="2295525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Yes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391415" y="2295525"/>
            <a:ext cx="304792" cy="190499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91415" y="2295525"/>
            <a:ext cx="3047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24441" y="2638425"/>
            <a:ext cx="5086222" cy="34290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0FDFA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 Same Side Corner Rectangle 82"/>
          <p:cNvSpPr/>
          <p:nvPr/>
        </p:nvSpPr>
        <p:spPr>
          <a:xfrm rot="16200000">
            <a:off x="6186011" y="27768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2751200"/>
            <a:ext cx="133346" cy="1173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591135" y="2733674"/>
            <a:ext cx="15144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Storage Temperature Range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045" y="3362324"/>
            <a:ext cx="5352916" cy="2247899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 Same Side Corner Rectangle 86"/>
          <p:cNvSpPr/>
          <p:nvPr/>
        </p:nvSpPr>
        <p:spPr>
          <a:xfrm rot="16200000">
            <a:off x="5114136" y="4420233"/>
            <a:ext cx="2247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24441" y="3528732"/>
            <a:ext cx="190495" cy="16248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591135" y="3476624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Settings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24441" y="3819524"/>
            <a:ext cx="2505012" cy="609600"/>
          </a:xfrm>
          <a:prstGeom prst="roundRect">
            <a:avLst>
              <a:gd name="adj" fmla="val 125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639" y="38957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639" y="4086225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500 units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05652" y="3819524"/>
            <a:ext cx="2505012" cy="609600"/>
          </a:xfrm>
          <a:prstGeom prst="roundRect">
            <a:avLst>
              <a:gd name="adj" fmla="val 125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1850" y="38957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Reorder Point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1850" y="4086225"/>
            <a:ext cx="23526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100 units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24441" y="4505325"/>
            <a:ext cx="2505012" cy="533399"/>
          </a:xfrm>
          <a:prstGeom prst="roundRect">
            <a:avLst>
              <a:gd name="adj" fmla="val 14285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639" y="45815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Minimum Level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639" y="4772025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50 units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05652" y="4505325"/>
            <a:ext cx="2505012" cy="533399"/>
          </a:xfrm>
          <a:prstGeom prst="roundRect">
            <a:avLst>
              <a:gd name="adj" fmla="val 14285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1850" y="4581524"/>
            <a:ext cx="23526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Maximum Level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1850" y="4772025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1000 units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24441" y="5114925"/>
            <a:ext cx="5086222" cy="380999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639" y="5229225"/>
            <a:ext cx="5143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Shelf Life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34386" y="5191125"/>
            <a:ext cx="8000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24 months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8576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Batch and Expiry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695607" cy="5095874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808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1238249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" y="1704975"/>
            <a:ext cx="33527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Navigate to: Inventory → Receive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28" y="1971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951" y="200977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20" y="1990724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2276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426" y="23145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20" y="229552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number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426" y="26193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020" y="2600325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expiry 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2886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426" y="29241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020" y="2905124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quantity received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28" y="31908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426" y="3228975"/>
            <a:ext cx="666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20" y="3209925"/>
            <a:ext cx="21430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manufacturing date </a:t>
            </a: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(optional)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228" y="3581400"/>
            <a:ext cx="3352716" cy="3809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14737" y="1000125"/>
            <a:ext cx="3695607" cy="5095874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032840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5232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81430" y="1279431"/>
            <a:ext cx="190495" cy="1652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24321" y="1238249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5232" y="1704975"/>
            <a:ext cx="3352716" cy="41910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4561722" y="18484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857628" y="18573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8123" y="1819275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541" y="1838324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&gt; 6 months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5232" y="2200275"/>
            <a:ext cx="3352716" cy="419100"/>
          </a:xfrm>
          <a:prstGeom prst="roundRect">
            <a:avLst>
              <a:gd name="adj" fmla="val 3636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561722" y="23437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57628" y="23526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8123" y="2314575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Yellow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017" y="2333624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3-6 months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05232" y="2695575"/>
            <a:ext cx="3352716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561722" y="28390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857628" y="28479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8123" y="2809875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4066" y="2828925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1-3 months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5232" y="3190874"/>
            <a:ext cx="3352716" cy="41910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4561722" y="3334384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57628" y="33432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48123" y="3305174"/>
            <a:ext cx="2476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0264" y="3324225"/>
            <a:ext cx="5238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&lt; 1 month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05232" y="3686175"/>
            <a:ext cx="3352716" cy="419100"/>
          </a:xfrm>
          <a:prstGeom prst="roundRect">
            <a:avLst>
              <a:gd name="adj" fmla="val 3636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4561722" y="38296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857628" y="38385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48123" y="3800475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5037" y="3819524"/>
            <a:ext cx="4190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62740" y="1000125"/>
            <a:ext cx="3162220" cy="509587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880843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53236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29434" y="1283633"/>
            <a:ext cx="190495" cy="15688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972325" y="125730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Handling Expired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53236" y="1704975"/>
            <a:ext cx="28193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Navigate to: Inventory → Expired Products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53236" y="1971675"/>
            <a:ext cx="2819329" cy="552450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8310031" y="2214880"/>
            <a:ext cx="5524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67533" y="2103501"/>
            <a:ext cx="133346" cy="1173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877078" y="2085975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Quarantine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58028" y="2276474"/>
            <a:ext cx="24192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Move to separate location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53236" y="2600325"/>
            <a:ext cx="2819329" cy="552450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 Same Side Corner Rectangle 71"/>
          <p:cNvSpPr/>
          <p:nvPr/>
        </p:nvSpPr>
        <p:spPr>
          <a:xfrm rot="16200000">
            <a:off x="8310031" y="2843530"/>
            <a:ext cx="5524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67533" y="2732150"/>
            <a:ext cx="133346" cy="11734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877078" y="2714625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Return to Supplier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58028" y="2905124"/>
            <a:ext cx="24192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If within return window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53236" y="3228975"/>
            <a:ext cx="2819329" cy="552450"/>
          </a:xfrm>
          <a:prstGeom prst="roundRect">
            <a:avLst>
              <a:gd name="adj" fmla="val 2758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8310031" y="3472180"/>
            <a:ext cx="5524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667533" y="3366134"/>
            <a:ext cx="133346" cy="10668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877078" y="3343275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Dispose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8028" y="3533774"/>
            <a:ext cx="24192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Record disposal method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53236" y="3981449"/>
            <a:ext cx="2819329" cy="457200"/>
          </a:xfrm>
          <a:prstGeom prst="roundRect">
            <a:avLst>
              <a:gd name="adj" fmla="val 33333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 Same Side Corner Rectangle 81"/>
          <p:cNvSpPr/>
          <p:nvPr/>
        </p:nvSpPr>
        <p:spPr>
          <a:xfrm rot="16200000">
            <a:off x="8357656" y="4177029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48483" y="4057650"/>
            <a:ext cx="2647883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B45309"/>
                </a:solidFill>
                <a:latin typeface="Inter"/>
                <a:rFonts ascii="Inter" hAnsi="Inter" eastAsia="Inter" cs="Inter"/>
              </a:rPr>
              <a:t>Controlled substances: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Follow specific disposal documentation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553236" y="4514850"/>
            <a:ext cx="2819329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 Same Side Corner Rectangle 84"/>
          <p:cNvSpPr/>
          <p:nvPr/>
        </p:nvSpPr>
        <p:spPr>
          <a:xfrm rot="16200000">
            <a:off x="8357656" y="4710430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48483" y="4684776"/>
            <a:ext cx="133346" cy="11734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858028" y="4591050"/>
            <a:ext cx="24383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updates inventory &amp; generates disposal report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718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Cold Chain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667033" cy="5095874"/>
          </a:xfrm>
          <a:prstGeom prst="roundRect">
            <a:avLst>
              <a:gd name="adj" fmla="val 62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20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9539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27" y="1819275"/>
            <a:ext cx="32479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04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Navigate to: </a:t>
            </a: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Inventory → Cold Chain → Temperature 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2143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50" y="218122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19" y="2124075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"New Temperature Reading"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466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25050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19" y="2447924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refrigerator/freezer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7908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525" y="28289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19" y="277177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temperature reading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114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25" y="31527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19" y="309562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min/max </a:t>
            </a:r>
            <a:r>
              <a:rPr sz="71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(optional)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438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525" y="3476624"/>
            <a:ext cx="666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19" y="3419474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notes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819524"/>
            <a:ext cx="3247943" cy="419100"/>
          </a:xfrm>
          <a:prstGeom prst="roundRect">
            <a:avLst>
              <a:gd name="adj" fmla="val 36363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4261" y="1000125"/>
            <a:ext cx="3667033" cy="5095874"/>
          </a:xfrm>
          <a:prstGeom prst="roundRect">
            <a:avLst>
              <a:gd name="adj" fmla="val 62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0423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52856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829054" y="1326356"/>
            <a:ext cx="228594" cy="1857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48143" y="129539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2856" y="1819275"/>
            <a:ext cx="3247943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ECFEFF"/>
              </a:gs>
              <a:gs pos="100000">
                <a:srgbClr val="CFFAFE"/>
              </a:gs>
            </a:gsLst>
            <a:lin scaled="0" ang="8100000"/>
          </a:gradFill>
          <a:ln w="1651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4301" y="2028825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Safe Range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34046" y="2058760"/>
            <a:ext cx="152396" cy="130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24541" y="1990724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7490"/>
                </a:solidFill>
                <a:latin typeface="Inter"/>
                <a:rFonts ascii="Inter" hAnsi="Inter" eastAsia="Inter" cs="Inter"/>
              </a:rPr>
              <a:t>2-8°C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4301" y="2333624"/>
            <a:ext cx="29050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refrigerators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2856" y="28098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29054" y="2896960"/>
            <a:ext cx="152396" cy="1306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71945" y="2867025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 if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outside range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2856" y="32289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29054" y="3316060"/>
            <a:ext cx="152396" cy="1306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71945" y="3286125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Breach report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auto-generated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2856" y="36480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29054" y="3740603"/>
            <a:ext cx="152396" cy="11974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171945" y="3705224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Requires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81790" y="1000125"/>
            <a:ext cx="3143171" cy="509587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899893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10384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1344930"/>
            <a:ext cx="228594" cy="14858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105672" y="1295399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Automated Monitoring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10384" y="1819275"/>
            <a:ext cx="2724081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8243354" y="2186305"/>
            <a:ext cx="800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781830" y="2030361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029474" y="2009774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Bluetooth Sensors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81830" y="23145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Can integrate with temperature sensors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10384" y="2733674"/>
            <a:ext cx="2724081" cy="80010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8243354" y="3100704"/>
            <a:ext cx="800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781830" y="2944761"/>
            <a:ext cx="171445" cy="14932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029474" y="2924175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 Logging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81830" y="32289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Automatic recording </a:t>
            </a:r>
            <a:r>
              <a:rPr sz="71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every hour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10384" y="3648074"/>
            <a:ext cx="2724081" cy="9144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8186204" y="4072254"/>
            <a:ext cx="9144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81830" y="3860543"/>
            <a:ext cx="171445" cy="14656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029474" y="3838574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Breach Alerts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81830" y="4143375"/>
            <a:ext cx="581010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81830" y="4143375"/>
            <a:ext cx="5810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SMS 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858028" y="4218050"/>
            <a:ext cx="133346" cy="117348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9439039" y="4143375"/>
            <a:ext cx="904852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39039" y="414337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 WhatsApp 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515237" y="4218050"/>
            <a:ext cx="133346" cy="117348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3716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Stock Audits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20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21920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Cycle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15" y="1485900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Regular partial 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1819275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99" y="1924049"/>
            <a:ext cx="47052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Navigate to: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Inventory → Stock Count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3145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050" y="235267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229552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19" y="2486025"/>
            <a:ext cx="17620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category, location, or random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7336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525" y="27717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19" y="2714625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actual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057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25" y="30956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19" y="303847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calculates 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3813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525" y="34194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19" y="33623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Investigate variances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705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3781857"/>
            <a:ext cx="114297" cy="753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3686175"/>
            <a:ext cx="19621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Adjust inventory with approval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689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95887" y="1330642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14977" y="1219200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Full Stock Take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4977" y="1485900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inventory 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1819275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4461" y="1924049"/>
            <a:ext cx="47052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Navigate to: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Inventory → Full Stock Take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689" y="23145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5412" y="235267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4481" y="2295525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count sheets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4481" y="2486025"/>
            <a:ext cx="12382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Organized by category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7336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5887" y="27717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4481" y="271462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Count all physical stock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3057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5887" y="30956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4481" y="3038475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counts into 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689" y="33813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5887" y="34194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4481" y="3362324"/>
            <a:ext cx="19525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compares to expected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689" y="3705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8" y="3781857"/>
            <a:ext cx="114297" cy="753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24481" y="3686175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Manager approves adjustments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